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0ac39b747b4332" /><Relationship Type="http://schemas.openxmlformats.org/officeDocument/2006/relationships/extended-properties" Target="/docProps/app.xml" Id="R94b4c3d79a5643a8" /><Relationship Type="http://schemas.openxmlformats.org/officeDocument/2006/relationships/officeDocument" Target="/ppt/presentation.xml" Id="R7a2287bc17634360" /></Relationships>
</file>

<file path=ppt/presentation.xml><?xml version="1.0" encoding="utf-8"?>
<p:presentation xmlns:p="http://schemas.openxmlformats.org/presentationml/2006/main">
  <p:sldMasterIdLst>
    <p:sldMasterId xmlns:r="http://schemas.openxmlformats.org/officeDocument/2006/relationships" id="2147483648" r:id="Rd6a8adf6ec1d4946"/>
  </p:sldMasterIdLst>
  <p:notesMasterIdLst>
    <p:notesMasterId xmlns:r="http://schemas.openxmlformats.org/officeDocument/2006/relationships" r:id="R65f29fda2fcc4196"/>
  </p:notesMasterIdLst>
  <p:sldIdLst>
    <p:sldId xmlns:r="http://schemas.openxmlformats.org/officeDocument/2006/relationships" id="256" r:id="R153deb2166c54dc5"/>
    <p:sldId xmlns:r="http://schemas.openxmlformats.org/officeDocument/2006/relationships" id="257" r:id="R419e3c0c9a9e4fd4"/>
    <p:sldId xmlns:r="http://schemas.openxmlformats.org/officeDocument/2006/relationships" id="258" r:id="R10877b25579e469e"/>
    <p:sldId xmlns:r="http://schemas.openxmlformats.org/officeDocument/2006/relationships" id="259" r:id="R26a51991b78b4c38"/>
    <p:sldId xmlns:r="http://schemas.openxmlformats.org/officeDocument/2006/relationships" id="260" r:id="R503a1087c33f442c"/>
    <p:sldId xmlns:r="http://schemas.openxmlformats.org/officeDocument/2006/relationships" id="261" r:id="R660d8f23e4d6471c"/>
    <p:sldId xmlns:r="http://schemas.openxmlformats.org/officeDocument/2006/relationships" id="262" r:id="R573d0f7816ee4c15"/>
    <p:sldId xmlns:r="http://schemas.openxmlformats.org/officeDocument/2006/relationships" id="263" r:id="Rd7dc5e81ed2b4e7e"/>
    <p:sldId xmlns:r="http://schemas.openxmlformats.org/officeDocument/2006/relationships" id="264" r:id="R8f63d7f6049b4b6b"/>
    <p:sldId xmlns:r="http://schemas.openxmlformats.org/officeDocument/2006/relationships" id="265" r:id="R4d9c5a80b17c44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470e2bd82e43f8" /><Relationship Type="http://schemas.openxmlformats.org/officeDocument/2006/relationships/slideMaster" Target="/ppt/slideMasters/slideMaster1.xml" Id="Rd6a8adf6ec1d4946" /><Relationship Type="http://schemas.openxmlformats.org/officeDocument/2006/relationships/notesMaster" Target="/ppt/notesMasters/notesMaster1.xml" Id="R65f29fda2fcc4196" /><Relationship Type="http://schemas.openxmlformats.org/officeDocument/2006/relationships/presProps" Target="/ppt/presProps.xml" Id="Rc603739aa3dc4e3d" /><Relationship Type="http://schemas.openxmlformats.org/officeDocument/2006/relationships/tableStyles" Target="/ppt/tableStyles.xml" Id="R7c2bf0bc519e466f" /><Relationship Type="http://schemas.openxmlformats.org/officeDocument/2006/relationships/slide" Target="/ppt/slides/slide1.xml" Id="R153deb2166c54dc5" /><Relationship Type="http://schemas.openxmlformats.org/officeDocument/2006/relationships/slide" Target="/ppt/slides/slide2.xml" Id="R419e3c0c9a9e4fd4" /><Relationship Type="http://schemas.openxmlformats.org/officeDocument/2006/relationships/slide" Target="/ppt/slides/slide3.xml" Id="R10877b25579e469e" /><Relationship Type="http://schemas.openxmlformats.org/officeDocument/2006/relationships/slide" Target="/ppt/slides/slide4.xml" Id="R26a51991b78b4c38" /><Relationship Type="http://schemas.openxmlformats.org/officeDocument/2006/relationships/slide" Target="/ppt/slides/slide5.xml" Id="R503a1087c33f442c" /><Relationship Type="http://schemas.openxmlformats.org/officeDocument/2006/relationships/slide" Target="/ppt/slides/slide6.xml" Id="R660d8f23e4d6471c" /><Relationship Type="http://schemas.openxmlformats.org/officeDocument/2006/relationships/slide" Target="/ppt/slides/slide7.xml" Id="R573d0f7816ee4c15" /><Relationship Type="http://schemas.openxmlformats.org/officeDocument/2006/relationships/slide" Target="/ppt/slides/slide8.xml" Id="Rd7dc5e81ed2b4e7e" /><Relationship Type="http://schemas.openxmlformats.org/officeDocument/2006/relationships/slide" Target="/ppt/slides/slide9.xml" Id="R8f63d7f6049b4b6b" /><Relationship Type="http://schemas.openxmlformats.org/officeDocument/2006/relationships/slide" Target="/ppt/slides/slide10.xml" Id="R4d9c5a80b17c44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cf07e83b3c4b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18a4ec488549a3" /><Relationship Type="http://schemas.openxmlformats.org/officeDocument/2006/relationships/notesMaster" Target="/ppt/notesMasters/notesMaster1.xml" Id="R2a5d2d85194147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0dc3b76a0a4e1f" /><Relationship Type="http://schemas.openxmlformats.org/officeDocument/2006/relationships/notesMaster" Target="/ppt/notesMasters/notesMaster1.xml" Id="R9f60476c10e548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5bacde054c4e39" /><Relationship Type="http://schemas.openxmlformats.org/officeDocument/2006/relationships/notesMaster" Target="/ppt/notesMasters/notesMaster1.xml" Id="Rb88e19325f7d47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9d47117a7542d1" /><Relationship Type="http://schemas.openxmlformats.org/officeDocument/2006/relationships/notesMaster" Target="/ppt/notesMasters/notesMaster1.xml" Id="R44d74424a63047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cb32b59b1c4af8" /><Relationship Type="http://schemas.openxmlformats.org/officeDocument/2006/relationships/notesMaster" Target="/ppt/notesMasters/notesMaster1.xml" Id="Rb1514398167a4d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578ebfc3094aaf" /><Relationship Type="http://schemas.openxmlformats.org/officeDocument/2006/relationships/notesMaster" Target="/ppt/notesMasters/notesMaster1.xml" Id="R2343b035e9b24e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d94cb44d404639" /><Relationship Type="http://schemas.openxmlformats.org/officeDocument/2006/relationships/notesMaster" Target="/ppt/notesMasters/notesMaster1.xml" Id="R91a2287eb1d940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cfbd9237b74782" /><Relationship Type="http://schemas.openxmlformats.org/officeDocument/2006/relationships/notesMaster" Target="/ppt/notesMasters/notesMaster1.xml" Id="Rf456c4ebedc54d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bdd9a4e936448a" /><Relationship Type="http://schemas.openxmlformats.org/officeDocument/2006/relationships/notesMaster" Target="/ppt/notesMasters/notesMaster1.xml" Id="R8b711ce7142644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6964a8be414b72" /><Relationship Type="http://schemas.openxmlformats.org/officeDocument/2006/relationships/notesMaster" Target="/ppt/notesMasters/notesMaster1.xml" Id="R31dfc2186ffa46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training deck. Use before the tabletop exercise. Vopak Brand Guidelines v3.0 informed the visual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Vopak GIT CIS Guideline, Incident Response and Business Continuity, section 3 and Appendix A, pages 8 through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Copy of Drill 2, Phishing scavenger hunt. The indicators are generalized so this training does not reveal the tabletop inject.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Vopak operating practice confirmed for this exercise: employees use the Hoxhunt button to report suspected phishing. The potentially dangerous message reaches the Vopak SOC. Confirm the current button location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Vopak GIT CIS Guideline, Appendix A. End users report possible cyberattacks to local IT or the OT focal point. Local specialists triage and begin escalation when the attack is credible. The Hoxhunt reporting distinction reflects current Vopak practice for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Vopak GIT CIS Guideline, Incident Response and Business Continuity, section 3 and Appendix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Vopak GIT CIS Guideline, Appendix B, questions asked by GLAS when a cyber incident is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Vopak GIT CIS Guideline, Appendix A. The guideline states that safety is the top priority and end users should not execute isolation steps themselves for critical OT systems. It also says not to power off a computer because doing so may destroy forensic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33 CFR 6.16-1, https://www.ecfr.gov/current/title-33/chapter-I/subchapter-A/part-6/subpart-6.16/section-6.16-1. 33 CFR 101.635, https://www.ecfr.gov/current/title-33/chapter-I/subchapter-H/part-101/subpart-F/section-101.635. The approved Facility Security Plan, Cybersecurity Plan, Cyber Incident Response Plan, and direction from the cognizant Captain of the Port remain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sources: Vopak GIT CIS Guideline, Incident Response and Business Continuity. Vopak Operational Technology Security Policy v1.2. Vopak Incident Classification, Reporting and Investigation Standard v8, June 2025. External sources are hyperlinked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5c85762cc545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eb50f217064b46" /><Relationship Type="http://schemas.openxmlformats.org/officeDocument/2006/relationships/slideLayout" Target="/ppt/slideLayouts/slideLayout1.xml" Id="R000a67f4263140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0a67f4263140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45e335f2774b04" /><Relationship Type="http://schemas.openxmlformats.org/officeDocument/2006/relationships/image" Target="/ppt/media/image.png" Id="R805f1d7767444a07" /><Relationship Type="http://schemas.openxmlformats.org/officeDocument/2006/relationships/notesSlide" Target="/ppt/notesSlides/notesSlide1.xml" Id="R95e8f63f4aba48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b442633c174ba1" /><Relationship Type="http://schemas.openxmlformats.org/officeDocument/2006/relationships/image" Target="/ppt/media/image2.png" Id="Ref8d17ee274744cb" /><Relationship Type="http://schemas.openxmlformats.org/officeDocument/2006/relationships/notesSlide" Target="/ppt/notesSlides/notesSlide2.xml" Id="R9985b36b06264d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086e9b678b4b8a" /><Relationship Type="http://schemas.openxmlformats.org/officeDocument/2006/relationships/image" Target="/ppt/media/image3.png" Id="R726a441f14e041af" /><Relationship Type="http://schemas.openxmlformats.org/officeDocument/2006/relationships/notesSlide" Target="/ppt/notesSlides/notesSlide3.xml" Id="R55c8ff802cbc4e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7ffb6be6734299" /><Relationship Type="http://schemas.openxmlformats.org/officeDocument/2006/relationships/image" Target="/ppt/media/image4.png" Id="R5a1635f2e6324821" /><Relationship Type="http://schemas.openxmlformats.org/officeDocument/2006/relationships/notesSlide" Target="/ppt/notesSlides/notesSlide4.xml" Id="R8bba4970459549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ff1b32234b4786" /><Relationship Type="http://schemas.openxmlformats.org/officeDocument/2006/relationships/image" Target="/ppt/media/image5.png" Id="Ra9562414fcf746bd" /><Relationship Type="http://schemas.openxmlformats.org/officeDocument/2006/relationships/notesSlide" Target="/ppt/notesSlides/notesSlide5.xml" Id="R803fc1a0111f47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6f5008ad6842be" /><Relationship Type="http://schemas.openxmlformats.org/officeDocument/2006/relationships/image" Target="/ppt/media/image6.png" Id="R88bd371e8420412f" /><Relationship Type="http://schemas.openxmlformats.org/officeDocument/2006/relationships/notesSlide" Target="/ppt/notesSlides/notesSlide6.xml" Id="R4fb921ddacd940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99e3fb5bff41a5" /><Relationship Type="http://schemas.openxmlformats.org/officeDocument/2006/relationships/image" Target="/ppt/media/image7.png" Id="R25ba34709acd4e9a" /><Relationship Type="http://schemas.openxmlformats.org/officeDocument/2006/relationships/notesSlide" Target="/ppt/notesSlides/notesSlide7.xml" Id="Ra9ab4ca4af674c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9363210c9749ba" /><Relationship Type="http://schemas.openxmlformats.org/officeDocument/2006/relationships/image" Target="/ppt/media/image8.png" Id="Rb0036d395f234052" /><Relationship Type="http://schemas.openxmlformats.org/officeDocument/2006/relationships/notesSlide" Target="/ppt/notesSlides/notesSlide8.xml" Id="R74c1059230894c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c00598476a4176" /><Relationship Type="http://schemas.openxmlformats.org/officeDocument/2006/relationships/image" Target="/ppt/media/image9.png" Id="Rcc7d30d5cc4b441a" /><Relationship Type="http://schemas.openxmlformats.org/officeDocument/2006/relationships/image" Target="/ppt/media/image10.png" Id="Rd710704085c94c2a" /><Relationship Type="http://schemas.openxmlformats.org/officeDocument/2006/relationships/hyperlink" Target="https://www.ecfr.gov/current/title-33/chapter-I/subchapter-A/part-6/subpart-6.16/section-6.16-1" TargetMode="External" Id="Rc69aec7ce9cf4b5b" /><Relationship Type="http://schemas.openxmlformats.org/officeDocument/2006/relationships/notesSlide" Target="/ppt/notesSlides/notesSlide9.xml" Id="R55b9a4fbe9e94a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8e7293f8b046a4" /><Relationship Type="http://schemas.openxmlformats.org/officeDocument/2006/relationships/image" Target="/ppt/media/image11.png" Id="R2d67f3cdf05d421f" /><Relationship Type="http://schemas.openxmlformats.org/officeDocument/2006/relationships/hyperlink" Target="https://www.ecfr.gov/current/title-33/chapter-I/subchapter-A/part-6/subpart-6.16/section-6.16-1" TargetMode="External" Id="R4d7edb6f3e174ddf" /><Relationship Type="http://schemas.openxmlformats.org/officeDocument/2006/relationships/hyperlink" Target="https://www.ecfr.gov/current/title-33/chapter-I/subchapter-H/part-101/subpart-F/section-101.635" TargetMode="External" Id="R6dbaf6b340684d21" /><Relationship Type="http://schemas.openxmlformats.org/officeDocument/2006/relationships/hyperlink" Target="https://www.ecfr.gov/current/title-33/chapter-I/subchapter-H/part-101/subpart-F/section-101.650" TargetMode="External" Id="Ree5e75108dea4da7" /><Relationship Type="http://schemas.openxmlformats.org/officeDocument/2006/relationships/hyperlink" Target="https://www.federalregister.gov/documents/2025/01/17/2025-00708/cybersecurity-in-the-marine-transportation-system" TargetMode="External" Id="R20da2557c81f4cb5" /><Relationship Type="http://schemas.openxmlformats.org/officeDocument/2006/relationships/notesSlide" Target="/ppt/notesSlides/notesSlide10.xml" Id="R99147d3b9f354e19" /></Relationships>
</file>

<file path=ppt/slides/slide1.xml><?xml version="1.0" encoding="utf-8"?>
<p:sld xmlns:p="http://schemas.openxmlformats.org/presentationml/2006/main">
  <p:cSld>
    <p:bg>
      <p:bgPr>
        <a:solidFill xmlns:a="http://schemas.openxmlformats.org/drawingml/2006/main">
          <a:srgbClr val="0A2373"/>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5f1d7767444a07"/>
          <a:stretch xmlns:a="http://schemas.openxmlformats.org/drawingml/2006/main"/>
        </p:blipFill>
        <p:spPr>
          <a:xfrm xmlns:a="http://schemas.openxmlformats.org/drawingml/2006/main">
            <a:off x="704850" y="416719"/>
            <a:ext cx="2000250" cy="61436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6E9588-46D6-47B3-996A-7EE25E5DCC59}"/>
              </a:ext>
            </a:extLst>
          </p:cNvPr>
          <p:cNvSpPr>
            <a:spLocks xmlns:a="http://schemas.openxmlformats.org/drawingml/2006/main" noGrp="1"/>
          </p:cNvSpPr>
          <p:nvPr/>
        </p:nvSpPr>
        <p:spPr>
          <a:xfrm xmlns:a="http://schemas.openxmlformats.org/drawingml/2006/main">
            <a:off x="0" y="6000750"/>
            <a:ext cx="12192000" cy="857250"/>
          </a:xfrm>
          <a:prstGeom xmlns:a="http://schemas.openxmlformats.org/drawingml/2006/main" prst="rect">
            <a:avLst/>
          </a:prstGeom>
          <a:solidFill xmlns:a="http://schemas.openxmlformats.org/drawingml/2006/main">
            <a:srgbClr val="0719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620BD9-87A7-448D-970F-61F9FC4ED7BA}"/>
              </a:ext>
            </a:extLst>
          </p:cNvPr>
          <p:cNvSpPr>
            <a:spLocks xmlns:a="http://schemas.openxmlformats.org/drawingml/2006/main" noGrp="1"/>
          </p:cNvSpPr>
          <p:nvPr/>
        </p:nvSpPr>
        <p:spPr>
          <a:xfrm xmlns:a="http://schemas.openxmlformats.org/drawingml/2006/main">
            <a:off x="9124950" y="0"/>
            <a:ext cx="3067050" cy="685800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9D0B92-06A1-4A3E-865C-1CE40ACB42E3}"/>
              </a:ext>
            </a:extLst>
          </p:cNvPr>
          <p:cNvSpPr>
            <a:spLocks xmlns:a="http://schemas.openxmlformats.org/drawingml/2006/main" noGrp="1"/>
          </p:cNvSpPr>
          <p:nvPr/>
        </p:nvSpPr>
        <p:spPr>
          <a:xfrm xmlns:a="http://schemas.openxmlformats.org/drawingml/2006/main">
            <a:off x="9791700" y="0"/>
            <a:ext cx="2400300" cy="6858000"/>
          </a:xfrm>
          <a:prstGeom xmlns:a="http://schemas.openxmlformats.org/drawingml/2006/main" prst="rect">
            <a:avLst/>
          </a:prstGeom>
          <a:solidFill xmlns:a="http://schemas.openxmlformats.org/drawingml/2006/main">
            <a:srgbClr val="009E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835A55-616A-4F3A-B3D8-8F027E46EF08}"/>
              </a:ext>
            </a:extLst>
          </p:cNvPr>
          <p:cNvSpPr>
            <a:spLocks xmlns:a="http://schemas.openxmlformats.org/drawingml/2006/main" noGrp="1"/>
          </p:cNvSpPr>
          <p:nvPr/>
        </p:nvSpPr>
        <p:spPr>
          <a:xfrm xmlns:a="http://schemas.openxmlformats.org/drawingml/2006/main">
            <a:off x="704850" y="1809750"/>
            <a:ext cx="781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350" b="1">
                <a:solidFill>
                  <a:srgbClr val="FFFFFF"/>
                </a:solidFill>
                <a:latin typeface="Nimbus Sans"/>
                <a:ea typeface="Nimbus Sans"/>
                <a:cs typeface="Nimbus Sans"/>
              </a:defRPr>
            </a:pPr>
            <a:r>
              <a:rPr sz="4350" b="1">
                <a:solidFill>
                  <a:srgbClr val="FFFFFF"/>
                </a:solidFill>
                <a:latin typeface="Nimbus Sans"/>
                <a:ea typeface="Nimbus Sans"/>
                <a:cs typeface="Nimbus Sans"/>
              </a:rPr>
              <a:t>Cyber Incident Readiness</a:t>
            </a:r>
          </a:p>
        </p:txBody>
      </p:sp>
      <p:sp>
        <p:nvSpPr>
          <p:cNvPr id="6" name="">
            <a:extLst xmlns:a="http://schemas.openxmlformats.org/drawingml/2006/main">
              <a:ext uri="{FF2B5EF4-FFF2-40B4-BE49-F238E27FC236}">
                <a16:creationId xmlns:a16="http://schemas.microsoft.com/office/drawing/2014/main" id="{FD2AFA5C-8F9C-41EB-BDB2-EBCCF4DB810B}"/>
              </a:ext>
            </a:extLst>
          </p:cNvPr>
          <p:cNvSpPr>
            <a:spLocks xmlns:a="http://schemas.openxmlformats.org/drawingml/2006/main" noGrp="1"/>
          </p:cNvSpPr>
          <p:nvPr/>
        </p:nvSpPr>
        <p:spPr>
          <a:xfrm xmlns:a="http://schemas.openxmlformats.org/drawingml/2006/main">
            <a:off x="742950" y="2781300"/>
            <a:ext cx="685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550" b="0">
                <a:solidFill>
                  <a:srgbClr val="00CFE1"/>
                </a:solidFill>
                <a:latin typeface="Nimbus Sans"/>
                <a:ea typeface="Nimbus Sans"/>
                <a:cs typeface="Nimbus Sans"/>
              </a:defRPr>
            </a:pPr>
            <a:r>
              <a:rPr sz="2550" b="0">
                <a:solidFill>
                  <a:srgbClr val="00CFE1"/>
                </a:solidFill>
                <a:latin typeface="Nimbus Sans"/>
                <a:ea typeface="Nimbus Sans"/>
                <a:cs typeface="Nimbus Sans"/>
              </a:rPr>
              <a:t>Pre tabletop training</a:t>
            </a:r>
          </a:p>
        </p:txBody>
      </p:sp>
      <p:sp>
        <p:nvSpPr>
          <p:cNvPr id="7" name="">
            <a:extLst xmlns:a="http://schemas.openxmlformats.org/drawingml/2006/main">
              <a:ext uri="{FF2B5EF4-FFF2-40B4-BE49-F238E27FC236}">
                <a16:creationId xmlns:a16="http://schemas.microsoft.com/office/drawing/2014/main" id="{B6CB29FD-40D3-4551-A66A-A804253C6AF0}"/>
              </a:ext>
            </a:extLst>
          </p:cNvPr>
          <p:cNvSpPr>
            <a:spLocks xmlns:a="http://schemas.openxmlformats.org/drawingml/2006/main" noGrp="1"/>
          </p:cNvSpPr>
          <p:nvPr/>
        </p:nvSpPr>
        <p:spPr>
          <a:xfrm xmlns:a="http://schemas.openxmlformats.org/drawingml/2006/main">
            <a:off x="742950" y="3619500"/>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Recognize the signal. Report it through the right channel. Escalate when the situation moves beyond email.</a:t>
            </a:r>
          </a:p>
        </p:txBody>
      </p:sp>
      <p:sp>
        <p:nvSpPr>
          <p:cNvPr id="8" name="">
            <a:extLst xmlns:a="http://schemas.openxmlformats.org/drawingml/2006/main">
              <a:ext uri="{FF2B5EF4-FFF2-40B4-BE49-F238E27FC236}">
                <a16:creationId xmlns:a16="http://schemas.microsoft.com/office/drawing/2014/main" id="{AE8CF968-DF08-48D0-B80B-0EBB0F2C2E3B}"/>
              </a:ext>
            </a:extLst>
          </p:cNvPr>
          <p:cNvSpPr>
            <a:spLocks xmlns:a="http://schemas.openxmlformats.org/drawingml/2006/main" noGrp="1"/>
          </p:cNvSpPr>
          <p:nvPr/>
        </p:nvSpPr>
        <p:spPr>
          <a:xfrm xmlns:a="http://schemas.openxmlformats.org/drawingml/2006/main">
            <a:off x="742950" y="62293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FFFFFF"/>
                </a:solidFill>
                <a:latin typeface="Nimbus Sans"/>
                <a:ea typeface="Nimbus Sans"/>
                <a:cs typeface="Nimbus Sans"/>
              </a:defRPr>
            </a:pPr>
            <a:r>
              <a:rPr sz="1350" b="1">
                <a:solidFill>
                  <a:srgbClr val="FFFFFF"/>
                </a:solidFill>
                <a:latin typeface="Nimbus Sans"/>
                <a:ea typeface="Nimbus Sans"/>
                <a:cs typeface="Nimbus Sans"/>
              </a:rPr>
              <a:t>Vopak US and Canada</a:t>
            </a:r>
          </a:p>
        </p:txBody>
      </p:sp>
      <p:sp>
        <p:nvSpPr>
          <p:cNvPr id="9" name="">
            <a:extLst xmlns:a="http://schemas.openxmlformats.org/drawingml/2006/main">
              <a:ext uri="{FF2B5EF4-FFF2-40B4-BE49-F238E27FC236}">
                <a16:creationId xmlns:a16="http://schemas.microsoft.com/office/drawing/2014/main" id="{2100E5F8-B22F-441B-8703-CD00A5210DB7}"/>
              </a:ext>
            </a:extLst>
          </p:cNvPr>
          <p:cNvSpPr>
            <a:spLocks xmlns:a="http://schemas.openxmlformats.org/drawingml/2006/main" noGrp="1"/>
          </p:cNvSpPr>
          <p:nvPr/>
        </p:nvSpPr>
        <p:spPr>
          <a:xfrm xmlns:a="http://schemas.openxmlformats.org/drawingml/2006/main">
            <a:off x="10572750" y="6229350"/>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1">
                <a:solidFill>
                  <a:srgbClr val="FFFFFF"/>
                </a:solidFill>
                <a:latin typeface="Nimbus Sans"/>
                <a:ea typeface="Nimbus Sans"/>
                <a:cs typeface="Nimbus Sans"/>
              </a:defRPr>
            </a:pPr>
            <a:r>
              <a:rPr sz="1350" b="1">
                <a:solidFill>
                  <a:srgbClr val="FFFFFF"/>
                </a:solidFill>
                <a:latin typeface="Nimbus Sans"/>
                <a:ea typeface="Nimbus Sans"/>
                <a:cs typeface="Nimbus Sans"/>
              </a:rPr>
              <a:t>01</a:t>
            </a:r>
          </a:p>
        </p:txBody>
      </p:sp>
    </p:spTree>
    <p:extLst>
      <p:ext uri="{BB962C8B-B14F-4D97-AF65-F5344CB8AC3E}">
        <p14:creationId xmlns:p14="http://schemas.microsoft.com/office/powerpoint/2010/main" val="9353505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f8d17ee274744cb"/>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AADCC7-EA31-4322-8E28-ADE5178BB2E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45F1EF-BDF8-41A3-98D0-D11F557041C2}"/>
              </a:ext>
            </a:extLst>
          </p:cNvPr>
          <p:cNvSpPr>
            <a:spLocks xmlns:a="http://schemas.openxmlformats.org/drawingml/2006/main" noGrp="1"/>
          </p:cNvSpPr>
          <p:nvPr/>
        </p:nvSpPr>
        <p:spPr>
          <a:xfrm xmlns:a="http://schemas.openxmlformats.org/drawingml/2006/main">
            <a:off x="685800" y="1066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0A2373"/>
                </a:solidFill>
                <a:latin typeface="Nimbus Sans"/>
                <a:ea typeface="Nimbus Sans"/>
                <a:cs typeface="Nimbus Sans"/>
              </a:defRPr>
            </a:pPr>
            <a:r>
              <a:rPr sz="3450" b="1">
                <a:solidFill>
                  <a:srgbClr val="0A2373"/>
                </a:solidFill>
                <a:latin typeface="Nimbus Sans"/>
                <a:ea typeface="Nimbus Sans"/>
                <a:cs typeface="Nimbus Sans"/>
              </a:rPr>
              <a:t>What this briefing prepares you to do</a:t>
            </a:r>
          </a:p>
        </p:txBody>
      </p:sp>
      <p:sp>
        <p:nvSpPr>
          <p:cNvPr id="4" name="">
            <a:extLst xmlns:a="http://schemas.openxmlformats.org/drawingml/2006/main">
              <a:ext uri="{FF2B5EF4-FFF2-40B4-BE49-F238E27FC236}">
                <a16:creationId xmlns:a16="http://schemas.microsoft.com/office/drawing/2014/main" id="{891F4B08-6DB1-401D-86AC-219DAFD6FDAF}"/>
              </a:ext>
            </a:extLst>
          </p:cNvPr>
          <p:cNvSpPr>
            <a:spLocks xmlns:a="http://schemas.openxmlformats.org/drawingml/2006/main" noGrp="1"/>
          </p:cNvSpPr>
          <p:nvPr/>
        </p:nvSpPr>
        <p:spPr>
          <a:xfrm xmlns:a="http://schemas.openxmlformats.org/drawingml/2006/main">
            <a:off x="1009650" y="2152650"/>
            <a:ext cx="7334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1500"/>
              </a:spcAft>
              <a:buNone/>
              <a:defRPr sz="2175" b="0">
                <a:solidFill>
                  <a:srgbClr val="101828"/>
                </a:solidFill>
                <a:latin typeface="Nimbus Sans"/>
                <a:ea typeface="Nimbus Sans"/>
                <a:cs typeface="Nimbus Sans"/>
              </a:defRPr>
            </a:pPr>
            <a:r>
              <a:rPr sz="2175" b="0">
                <a:solidFill>
                  <a:srgbClr val="101828"/>
                </a:solidFill>
                <a:latin typeface="Nimbus Sans"/>
                <a:ea typeface="Nimbus Sans"/>
                <a:cs typeface="Nimbus Sans"/>
              </a:rPr>
              <a:t>Recognize common indicators of a suspicious email</a:t>
            </a:r>
          </a:p>
          <a:p xmlns:a="http://schemas.openxmlformats.org/drawingml/2006/main">
            <a:pPr marL="279400" indent="-139700" algn="l">
              <a:lnSpc>
                <a:spcPct val="108000"/>
              </a:lnSpc>
              <a:spcAft>
                <a:spcPts val="1500"/>
              </a:spcAft>
              <a:buNone/>
              <a:defRPr sz="2175" b="0">
                <a:solidFill>
                  <a:srgbClr val="101828"/>
                </a:solidFill>
                <a:latin typeface="Nimbus Sans"/>
                <a:ea typeface="Nimbus Sans"/>
                <a:cs typeface="Nimbus Sans"/>
              </a:defRPr>
            </a:pPr>
            <a:r>
              <a:rPr sz="2175" b="0">
                <a:solidFill>
                  <a:srgbClr val="101828"/>
                </a:solidFill>
                <a:latin typeface="Nimbus Sans"/>
                <a:ea typeface="Nimbus Sans"/>
                <a:cs typeface="Nimbus Sans"/>
              </a:rPr>
              <a:t>Use the Hoxhunt button for a suspected Vopak phishing email</a:t>
            </a:r>
          </a:p>
          <a:p xmlns:a="http://schemas.openxmlformats.org/drawingml/2006/main">
            <a:pPr marL="279400" indent="-139700" algn="l">
              <a:lnSpc>
                <a:spcPct val="108000"/>
              </a:lnSpc>
              <a:spcAft>
                <a:spcPts val="1500"/>
              </a:spcAft>
              <a:buNone/>
              <a:defRPr sz="2175" b="0">
                <a:solidFill>
                  <a:srgbClr val="101828"/>
                </a:solidFill>
                <a:latin typeface="Nimbus Sans"/>
                <a:ea typeface="Nimbus Sans"/>
                <a:cs typeface="Nimbus Sans"/>
              </a:defRPr>
            </a:pPr>
            <a:r>
              <a:rPr sz="2175" b="0">
                <a:solidFill>
                  <a:srgbClr val="101828"/>
                </a:solidFill>
                <a:latin typeface="Nimbus Sans"/>
                <a:ea typeface="Nimbus Sans"/>
                <a:cs typeface="Nimbus Sans"/>
              </a:rPr>
              <a:t>Know when the event requires immediate IT or OT escalation</a:t>
            </a:r>
          </a:p>
          <a:p xmlns:a="http://schemas.openxmlformats.org/drawingml/2006/main">
            <a:pPr marL="279400" indent="-139700" algn="l">
              <a:lnSpc>
                <a:spcPct val="108000"/>
              </a:lnSpc>
              <a:spcAft>
                <a:spcPts val="1500"/>
              </a:spcAft>
              <a:buNone/>
              <a:defRPr sz="2175" b="0">
                <a:solidFill>
                  <a:srgbClr val="101828"/>
                </a:solidFill>
                <a:latin typeface="Nimbus Sans"/>
                <a:ea typeface="Nimbus Sans"/>
                <a:cs typeface="Nimbus Sans"/>
              </a:defRPr>
            </a:pPr>
            <a:r>
              <a:rPr sz="2175" b="0">
                <a:solidFill>
                  <a:srgbClr val="101828"/>
                </a:solidFill>
                <a:latin typeface="Nimbus Sans"/>
                <a:ea typeface="Nimbus Sans"/>
                <a:cs typeface="Nimbus Sans"/>
              </a:rPr>
              <a:t>Protect terminal operations while qualified responders assess the situation</a:t>
            </a:r>
          </a:p>
        </p:txBody>
      </p:sp>
      <p:sp>
        <p:nvSpPr>
          <p:cNvPr id="5" name="">
            <a:extLst xmlns:a="http://schemas.openxmlformats.org/drawingml/2006/main">
              <a:ext uri="{FF2B5EF4-FFF2-40B4-BE49-F238E27FC236}">
                <a16:creationId xmlns:a16="http://schemas.microsoft.com/office/drawing/2014/main" id="{CCE612C9-D439-465D-BE3D-2E394FFB1E79}"/>
              </a:ext>
            </a:extLst>
          </p:cNvPr>
          <p:cNvSpPr>
            <a:spLocks xmlns:a="http://schemas.openxmlformats.org/drawingml/2006/main" noGrp="1"/>
          </p:cNvSpPr>
          <p:nvPr/>
        </p:nvSpPr>
        <p:spPr>
          <a:xfrm xmlns:a="http://schemas.openxmlformats.org/drawingml/2006/main">
            <a:off x="8572500" y="1809750"/>
            <a:ext cx="2571750" cy="2952750"/>
          </a:xfrm>
          <a:prstGeom xmlns:a="http://schemas.openxmlformats.org/drawingml/2006/main" prst="roundRect">
            <a:avLst>
              <a:gd name="adj" fmla="val 2963"/>
            </a:avLst>
          </a:prstGeom>
          <a:solidFill xmlns:a="http://schemas.openxmlformats.org/drawingml/2006/main">
            <a:srgbClr val="0A237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7ACF46-A7EA-4C28-9AF3-D610F1224B51}"/>
              </a:ext>
            </a:extLst>
          </p:cNvPr>
          <p:cNvSpPr>
            <a:spLocks xmlns:a="http://schemas.openxmlformats.org/drawingml/2006/main" noGrp="1"/>
          </p:cNvSpPr>
          <p:nvPr/>
        </p:nvSpPr>
        <p:spPr>
          <a:xfrm xmlns:a="http://schemas.openxmlformats.org/drawingml/2006/main">
            <a:off x="8991600" y="2190750"/>
            <a:ext cx="173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a:solidFill>
                  <a:srgbClr val="00CFE1"/>
                </a:solidFill>
                <a:latin typeface="Nimbus Sans"/>
                <a:ea typeface="Nimbus Sans"/>
                <a:cs typeface="Nimbus Sans"/>
              </a:defRPr>
            </a:pPr>
            <a:r>
              <a:rPr sz="1575" b="1">
                <a:solidFill>
                  <a:srgbClr val="00CFE1"/>
                </a:solidFill>
                <a:latin typeface="Nimbus Sans"/>
                <a:ea typeface="Nimbus Sans"/>
                <a:cs typeface="Nimbus Sans"/>
              </a:rPr>
              <a:t>The goal</a:t>
            </a:r>
          </a:p>
        </p:txBody>
      </p:sp>
      <p:sp>
        <p:nvSpPr>
          <p:cNvPr id="7" name="">
            <a:extLst xmlns:a="http://schemas.openxmlformats.org/drawingml/2006/main">
              <a:ext uri="{FF2B5EF4-FFF2-40B4-BE49-F238E27FC236}">
                <a16:creationId xmlns:a16="http://schemas.microsoft.com/office/drawing/2014/main" id="{3D1B1B3A-A399-45A4-B896-D16B876F57EA}"/>
              </a:ext>
            </a:extLst>
          </p:cNvPr>
          <p:cNvSpPr>
            <a:spLocks xmlns:a="http://schemas.openxmlformats.org/drawingml/2006/main" noGrp="1"/>
          </p:cNvSpPr>
          <p:nvPr/>
        </p:nvSpPr>
        <p:spPr>
          <a:xfrm xmlns:a="http://schemas.openxmlformats.org/drawingml/2006/main">
            <a:off x="8953500" y="2819400"/>
            <a:ext cx="1809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800" b="1">
                <a:solidFill>
                  <a:srgbClr val="FFFFFF"/>
                </a:solidFill>
                <a:latin typeface="Nimbus Sans"/>
                <a:ea typeface="Nimbus Sans"/>
                <a:cs typeface="Nimbus Sans"/>
              </a:defRPr>
            </a:pPr>
            <a:r>
              <a:rPr sz="1800" b="1">
                <a:solidFill>
                  <a:srgbClr val="FFFFFF"/>
                </a:solidFill>
                <a:latin typeface="Nimbus Sans"/>
                <a:ea typeface="Nimbus Sans"/>
                <a:cs typeface="Nimbus Sans"/>
              </a:rPr>
              <a:t>Report quickly through the correct channel, then escalate for the actual risk.</a:t>
            </a:r>
          </a:p>
        </p:txBody>
      </p:sp>
      <p:sp>
        <p:nvSpPr>
          <p:cNvPr id="8" name="">
            <a:extLst xmlns:a="http://schemas.openxmlformats.org/drawingml/2006/main">
              <a:ext uri="{FF2B5EF4-FFF2-40B4-BE49-F238E27FC236}">
                <a16:creationId xmlns:a16="http://schemas.microsoft.com/office/drawing/2014/main" id="{8A1DE62F-84E6-4C4A-8976-CC26C7F98824}"/>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B8EF79-D4F4-454A-B3C6-0D9167EE62F8}"/>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Vopak GIT CIS Guideline, section 3 and Appendix A</a:t>
            </a:r>
          </a:p>
        </p:txBody>
      </p:sp>
      <p:sp>
        <p:nvSpPr>
          <p:cNvPr id="10" name="">
            <a:extLst xmlns:a="http://schemas.openxmlformats.org/drawingml/2006/main">
              <a:ext uri="{FF2B5EF4-FFF2-40B4-BE49-F238E27FC236}">
                <a16:creationId xmlns:a16="http://schemas.microsoft.com/office/drawing/2014/main" id="{EB821DB4-73EF-4A0E-B88D-96F840B65BA4}"/>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02</a:t>
            </a:r>
          </a:p>
        </p:txBody>
      </p:sp>
    </p:spTree>
    <p:extLst>
      <p:ext uri="{BB962C8B-B14F-4D97-AF65-F5344CB8AC3E}">
        <p14:creationId xmlns:p14="http://schemas.microsoft.com/office/powerpoint/2010/main" val="15672830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26a441f14e041af"/>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4094E1-9623-47C0-9D02-26DD2754CC1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809277-B7D8-4672-B565-9AA484E881DA}"/>
              </a:ext>
            </a:extLst>
          </p:cNvPr>
          <p:cNvSpPr>
            <a:spLocks xmlns:a="http://schemas.openxmlformats.org/drawingml/2006/main" noGrp="1"/>
          </p:cNvSpPr>
          <p:nvPr/>
        </p:nvSpPr>
        <p:spPr>
          <a:xfrm xmlns:a="http://schemas.openxmlformats.org/drawingml/2006/main">
            <a:off x="685800" y="1066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0A2373"/>
                </a:solidFill>
                <a:latin typeface="Nimbus Sans"/>
                <a:ea typeface="Nimbus Sans"/>
                <a:cs typeface="Nimbus Sans"/>
              </a:defRPr>
            </a:pPr>
            <a:r>
              <a:rPr sz="3450" b="1">
                <a:solidFill>
                  <a:srgbClr val="0A2373"/>
                </a:solidFill>
                <a:latin typeface="Nimbus Sans"/>
                <a:ea typeface="Nimbus Sans"/>
                <a:cs typeface="Nimbus Sans"/>
              </a:rPr>
              <a:t>Suspicious email indicators</a:t>
            </a:r>
          </a:p>
        </p:txBody>
      </p:sp>
      <p:sp>
        <p:nvSpPr>
          <p:cNvPr id="4" name="">
            <a:extLst xmlns:a="http://schemas.openxmlformats.org/drawingml/2006/main">
              <a:ext uri="{FF2B5EF4-FFF2-40B4-BE49-F238E27FC236}">
                <a16:creationId xmlns:a16="http://schemas.microsoft.com/office/drawing/2014/main" id="{FA4C3DC3-D477-4DC3-9F13-2B738A560B3D}"/>
              </a:ext>
            </a:extLst>
          </p:cNvPr>
          <p:cNvSpPr>
            <a:spLocks xmlns:a="http://schemas.openxmlformats.org/drawingml/2006/main" noGrp="1"/>
          </p:cNvSpPr>
          <p:nvPr/>
        </p:nvSpPr>
        <p:spPr>
          <a:xfrm xmlns:a="http://schemas.openxmlformats.org/drawingml/2006/main">
            <a:off x="876300" y="1847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A2373"/>
                </a:solidFill>
                <a:latin typeface="Nimbus Sans"/>
                <a:ea typeface="Nimbus Sans"/>
                <a:cs typeface="Nimbus Sans"/>
              </a:defRPr>
            </a:pPr>
            <a:r>
              <a:rPr sz="1800" b="1">
                <a:solidFill>
                  <a:srgbClr val="0A2373"/>
                </a:solidFill>
                <a:latin typeface="Nimbus Sans"/>
                <a:ea typeface="Nimbus Sans"/>
                <a:cs typeface="Nimbus Sans"/>
              </a:rPr>
              <a:t>Sender</a:t>
            </a:r>
          </a:p>
        </p:txBody>
      </p:sp>
      <p:sp>
        <p:nvSpPr>
          <p:cNvPr id="5" name="">
            <a:extLst xmlns:a="http://schemas.openxmlformats.org/drawingml/2006/main">
              <a:ext uri="{FF2B5EF4-FFF2-40B4-BE49-F238E27FC236}">
                <a16:creationId xmlns:a16="http://schemas.microsoft.com/office/drawing/2014/main" id="{A617381B-6005-4CD0-8D25-A58F496A35F3}"/>
              </a:ext>
            </a:extLst>
          </p:cNvPr>
          <p:cNvSpPr>
            <a:spLocks xmlns:a="http://schemas.openxmlformats.org/drawingml/2006/main" noGrp="1"/>
          </p:cNvSpPr>
          <p:nvPr/>
        </p:nvSpPr>
        <p:spPr>
          <a:xfrm xmlns:a="http://schemas.openxmlformats.org/drawingml/2006/main">
            <a:off x="2857500" y="1847850"/>
            <a:ext cx="8020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0">
                <a:solidFill>
                  <a:srgbClr val="101828"/>
                </a:solidFill>
                <a:latin typeface="Nimbus Sans"/>
                <a:ea typeface="Nimbus Sans"/>
                <a:cs typeface="Nimbus Sans"/>
              </a:defRPr>
            </a:pPr>
            <a:r>
              <a:rPr sz="1800" b="0">
                <a:solidFill>
                  <a:srgbClr val="101828"/>
                </a:solidFill>
                <a:latin typeface="Nimbus Sans"/>
                <a:ea typeface="Nimbus Sans"/>
                <a:cs typeface="Nimbus Sans"/>
              </a:rPr>
              <a:t>Unexpected address or a domain that only looks familiar</a:t>
            </a:r>
          </a:p>
        </p:txBody>
      </p:sp>
      <p:sp>
        <p:nvSpPr>
          <p:cNvPr id="6" name="">
            <a:extLst xmlns:a="http://schemas.openxmlformats.org/drawingml/2006/main">
              <a:ext uri="{FF2B5EF4-FFF2-40B4-BE49-F238E27FC236}">
                <a16:creationId xmlns:a16="http://schemas.microsoft.com/office/drawing/2014/main" id="{4F9A1232-25BC-4BBB-95CA-80F03818EC0A}"/>
              </a:ext>
            </a:extLst>
          </p:cNvPr>
          <p:cNvSpPr>
            <a:spLocks xmlns:a="http://schemas.openxmlformats.org/drawingml/2006/main" noGrp="1"/>
          </p:cNvSpPr>
          <p:nvPr/>
        </p:nvSpPr>
        <p:spPr>
          <a:xfrm xmlns:a="http://schemas.openxmlformats.org/drawingml/2006/main">
            <a:off x="876300" y="2533650"/>
            <a:ext cx="1000125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1E15CDE-B0A9-4C6E-94C9-192569C02B96}"/>
              </a:ext>
            </a:extLst>
          </p:cNvPr>
          <p:cNvSpPr>
            <a:spLocks xmlns:a="http://schemas.openxmlformats.org/drawingml/2006/main" noGrp="1"/>
          </p:cNvSpPr>
          <p:nvPr/>
        </p:nvSpPr>
        <p:spPr>
          <a:xfrm xmlns:a="http://schemas.openxmlformats.org/drawingml/2006/main">
            <a:off x="876300" y="28194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A2373"/>
                </a:solidFill>
                <a:latin typeface="Nimbus Sans"/>
                <a:ea typeface="Nimbus Sans"/>
                <a:cs typeface="Nimbus Sans"/>
              </a:defRPr>
            </a:pPr>
            <a:r>
              <a:rPr sz="1800" b="1">
                <a:solidFill>
                  <a:srgbClr val="0A2373"/>
                </a:solidFill>
                <a:latin typeface="Nimbus Sans"/>
                <a:ea typeface="Nimbus Sans"/>
                <a:cs typeface="Nimbus Sans"/>
              </a:rPr>
              <a:t>Pressure</a:t>
            </a:r>
          </a:p>
        </p:txBody>
      </p:sp>
      <p:sp>
        <p:nvSpPr>
          <p:cNvPr id="8" name="">
            <a:extLst xmlns:a="http://schemas.openxmlformats.org/drawingml/2006/main">
              <a:ext uri="{FF2B5EF4-FFF2-40B4-BE49-F238E27FC236}">
                <a16:creationId xmlns:a16="http://schemas.microsoft.com/office/drawing/2014/main" id="{C1DB2161-9D9F-4E40-862C-66E908E03EB4}"/>
              </a:ext>
            </a:extLst>
          </p:cNvPr>
          <p:cNvSpPr>
            <a:spLocks xmlns:a="http://schemas.openxmlformats.org/drawingml/2006/main" noGrp="1"/>
          </p:cNvSpPr>
          <p:nvPr/>
        </p:nvSpPr>
        <p:spPr>
          <a:xfrm xmlns:a="http://schemas.openxmlformats.org/drawingml/2006/main">
            <a:off x="2857500" y="2819400"/>
            <a:ext cx="8020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0">
                <a:solidFill>
                  <a:srgbClr val="101828"/>
                </a:solidFill>
                <a:latin typeface="Nimbus Sans"/>
                <a:ea typeface="Nimbus Sans"/>
                <a:cs typeface="Nimbus Sans"/>
              </a:defRPr>
            </a:pPr>
            <a:r>
              <a:rPr sz="1800" b="0">
                <a:solidFill>
                  <a:srgbClr val="101828"/>
                </a:solidFill>
                <a:latin typeface="Nimbus Sans"/>
                <a:ea typeface="Nimbus Sans"/>
                <a:cs typeface="Nimbus Sans"/>
              </a:rPr>
              <a:t>Urgency, secrecy, or a request to bypass the normal process</a:t>
            </a:r>
          </a:p>
        </p:txBody>
      </p:sp>
      <p:sp>
        <p:nvSpPr>
          <p:cNvPr id="9" name="">
            <a:extLst xmlns:a="http://schemas.openxmlformats.org/drawingml/2006/main">
              <a:ext uri="{FF2B5EF4-FFF2-40B4-BE49-F238E27FC236}">
                <a16:creationId xmlns:a16="http://schemas.microsoft.com/office/drawing/2014/main" id="{34EE79B9-2CEB-4FA4-BA9C-1AE226C294FF}"/>
              </a:ext>
            </a:extLst>
          </p:cNvPr>
          <p:cNvSpPr>
            <a:spLocks xmlns:a="http://schemas.openxmlformats.org/drawingml/2006/main" noGrp="1"/>
          </p:cNvSpPr>
          <p:nvPr/>
        </p:nvSpPr>
        <p:spPr>
          <a:xfrm xmlns:a="http://schemas.openxmlformats.org/drawingml/2006/main">
            <a:off x="876300" y="3505200"/>
            <a:ext cx="1000125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7DBD0E7-0CA5-4A2C-9D13-7671EC4B42BD}"/>
              </a:ext>
            </a:extLst>
          </p:cNvPr>
          <p:cNvSpPr>
            <a:spLocks xmlns:a="http://schemas.openxmlformats.org/drawingml/2006/main" noGrp="1"/>
          </p:cNvSpPr>
          <p:nvPr/>
        </p:nvSpPr>
        <p:spPr>
          <a:xfrm xmlns:a="http://schemas.openxmlformats.org/drawingml/2006/main">
            <a:off x="876300" y="37909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A2373"/>
                </a:solidFill>
                <a:latin typeface="Nimbus Sans"/>
                <a:ea typeface="Nimbus Sans"/>
                <a:cs typeface="Nimbus Sans"/>
              </a:defRPr>
            </a:pPr>
            <a:r>
              <a:rPr sz="1800" b="1">
                <a:solidFill>
                  <a:srgbClr val="0A2373"/>
                </a:solidFill>
                <a:latin typeface="Nimbus Sans"/>
                <a:ea typeface="Nimbus Sans"/>
                <a:cs typeface="Nimbus Sans"/>
              </a:rPr>
              <a:t>Action</a:t>
            </a:r>
          </a:p>
        </p:txBody>
      </p:sp>
      <p:sp>
        <p:nvSpPr>
          <p:cNvPr id="11" name="">
            <a:extLst xmlns:a="http://schemas.openxmlformats.org/drawingml/2006/main">
              <a:ext uri="{FF2B5EF4-FFF2-40B4-BE49-F238E27FC236}">
                <a16:creationId xmlns:a16="http://schemas.microsoft.com/office/drawing/2014/main" id="{8676CC43-BC63-4FAA-9959-5DE7E218EBEF}"/>
              </a:ext>
            </a:extLst>
          </p:cNvPr>
          <p:cNvSpPr>
            <a:spLocks xmlns:a="http://schemas.openxmlformats.org/drawingml/2006/main" noGrp="1"/>
          </p:cNvSpPr>
          <p:nvPr/>
        </p:nvSpPr>
        <p:spPr>
          <a:xfrm xmlns:a="http://schemas.openxmlformats.org/drawingml/2006/main">
            <a:off x="2857500" y="3790950"/>
            <a:ext cx="8020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0">
                <a:solidFill>
                  <a:srgbClr val="101828"/>
                </a:solidFill>
                <a:latin typeface="Nimbus Sans"/>
                <a:ea typeface="Nimbus Sans"/>
                <a:cs typeface="Nimbus Sans"/>
              </a:defRPr>
            </a:pPr>
            <a:r>
              <a:rPr sz="1800" b="0">
                <a:solidFill>
                  <a:srgbClr val="101828"/>
                </a:solidFill>
                <a:latin typeface="Nimbus Sans"/>
                <a:ea typeface="Nimbus Sans"/>
                <a:cs typeface="Nimbus Sans"/>
              </a:rPr>
              <a:t>Unexpected attachment, link, QR code, credential request, or payment request</a:t>
            </a:r>
          </a:p>
        </p:txBody>
      </p:sp>
      <p:sp>
        <p:nvSpPr>
          <p:cNvPr id="12" name="">
            <a:extLst xmlns:a="http://schemas.openxmlformats.org/drawingml/2006/main">
              <a:ext uri="{FF2B5EF4-FFF2-40B4-BE49-F238E27FC236}">
                <a16:creationId xmlns:a16="http://schemas.microsoft.com/office/drawing/2014/main" id="{B5F1144D-A352-4867-B545-49550A14CC02}"/>
              </a:ext>
            </a:extLst>
          </p:cNvPr>
          <p:cNvSpPr>
            <a:spLocks xmlns:a="http://schemas.openxmlformats.org/drawingml/2006/main" noGrp="1"/>
          </p:cNvSpPr>
          <p:nvPr/>
        </p:nvSpPr>
        <p:spPr>
          <a:xfrm xmlns:a="http://schemas.openxmlformats.org/drawingml/2006/main">
            <a:off x="876300" y="4476750"/>
            <a:ext cx="1000125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070D8B-BA37-4759-8DF8-97ED0411C58B}"/>
              </a:ext>
            </a:extLst>
          </p:cNvPr>
          <p:cNvSpPr>
            <a:spLocks xmlns:a="http://schemas.openxmlformats.org/drawingml/2006/main" noGrp="1"/>
          </p:cNvSpPr>
          <p:nvPr/>
        </p:nvSpPr>
        <p:spPr>
          <a:xfrm xmlns:a="http://schemas.openxmlformats.org/drawingml/2006/main">
            <a:off x="876300" y="47625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A2373"/>
                </a:solidFill>
                <a:latin typeface="Nimbus Sans"/>
                <a:ea typeface="Nimbus Sans"/>
                <a:cs typeface="Nimbus Sans"/>
              </a:defRPr>
            </a:pPr>
            <a:r>
              <a:rPr sz="1800" b="1">
                <a:solidFill>
                  <a:srgbClr val="0A2373"/>
                </a:solidFill>
                <a:latin typeface="Nimbus Sans"/>
                <a:ea typeface="Nimbus Sans"/>
                <a:cs typeface="Nimbus Sans"/>
              </a:rPr>
              <a:t>Context</a:t>
            </a:r>
          </a:p>
        </p:txBody>
      </p:sp>
      <p:sp>
        <p:nvSpPr>
          <p:cNvPr id="14" name="">
            <a:extLst xmlns:a="http://schemas.openxmlformats.org/drawingml/2006/main">
              <a:ext uri="{FF2B5EF4-FFF2-40B4-BE49-F238E27FC236}">
                <a16:creationId xmlns:a16="http://schemas.microsoft.com/office/drawing/2014/main" id="{CC16A0DC-6945-434C-A3CF-A81EDFE07DB9}"/>
              </a:ext>
            </a:extLst>
          </p:cNvPr>
          <p:cNvSpPr>
            <a:spLocks xmlns:a="http://schemas.openxmlformats.org/drawingml/2006/main" noGrp="1"/>
          </p:cNvSpPr>
          <p:nvPr/>
        </p:nvSpPr>
        <p:spPr>
          <a:xfrm xmlns:a="http://schemas.openxmlformats.org/drawingml/2006/main">
            <a:off x="2857500" y="4762500"/>
            <a:ext cx="8020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0">
                <a:solidFill>
                  <a:srgbClr val="101828"/>
                </a:solidFill>
                <a:latin typeface="Nimbus Sans"/>
                <a:ea typeface="Nimbus Sans"/>
                <a:cs typeface="Nimbus Sans"/>
              </a:defRPr>
            </a:pPr>
            <a:r>
              <a:rPr sz="1800" b="0">
                <a:solidFill>
                  <a:srgbClr val="101828"/>
                </a:solidFill>
                <a:latin typeface="Nimbus Sans"/>
                <a:ea typeface="Nimbus Sans"/>
                <a:cs typeface="Nimbus Sans"/>
              </a:rPr>
              <a:t>A message that conflicts with a known schedule, vendor contact, or approved access window</a:t>
            </a:r>
          </a:p>
        </p:txBody>
      </p:sp>
      <p:sp>
        <p:nvSpPr>
          <p:cNvPr id="15" name="">
            <a:extLst xmlns:a="http://schemas.openxmlformats.org/drawingml/2006/main">
              <a:ext uri="{FF2B5EF4-FFF2-40B4-BE49-F238E27FC236}">
                <a16:creationId xmlns:a16="http://schemas.microsoft.com/office/drawing/2014/main" id="{B9504FC0-7695-4972-BDC8-A24FB80252F9}"/>
              </a:ext>
            </a:extLst>
          </p:cNvPr>
          <p:cNvSpPr>
            <a:spLocks xmlns:a="http://schemas.openxmlformats.org/drawingml/2006/main" noGrp="1"/>
          </p:cNvSpPr>
          <p:nvPr/>
        </p:nvSpPr>
        <p:spPr>
          <a:xfrm xmlns:a="http://schemas.openxmlformats.org/drawingml/2006/main">
            <a:off x="876300" y="5448300"/>
            <a:ext cx="1000125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814951-297A-43C4-8C73-A1B970E201F6}"/>
              </a:ext>
            </a:extLst>
          </p:cNvPr>
          <p:cNvSpPr>
            <a:spLocks xmlns:a="http://schemas.openxmlformats.org/drawingml/2006/main" noGrp="1"/>
          </p:cNvSpPr>
          <p:nvPr/>
        </p:nvSpPr>
        <p:spPr>
          <a:xfrm xmlns:a="http://schemas.openxmlformats.org/drawingml/2006/main">
            <a:off x="876300" y="561975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a:solidFill>
                  <a:srgbClr val="C62828"/>
                </a:solidFill>
                <a:latin typeface="Nimbus Sans"/>
                <a:ea typeface="Nimbus Sans"/>
                <a:cs typeface="Nimbus Sans"/>
              </a:defRPr>
            </a:pPr>
            <a:r>
              <a:rPr sz="1575" b="1">
                <a:solidFill>
                  <a:srgbClr val="C62828"/>
                </a:solidFill>
                <a:latin typeface="Nimbus Sans"/>
                <a:ea typeface="Nimbus Sans"/>
                <a:cs typeface="Nimbus Sans"/>
              </a:rPr>
              <a:t>Do not click a link, open an attachment, scan a QR code, reply, or use an unsubscribe link inside a suspicious message.</a:t>
            </a:r>
          </a:p>
        </p:txBody>
      </p:sp>
      <p:sp>
        <p:nvSpPr>
          <p:cNvPr id="17" name="">
            <a:extLst xmlns:a="http://schemas.openxmlformats.org/drawingml/2006/main">
              <a:ext uri="{FF2B5EF4-FFF2-40B4-BE49-F238E27FC236}">
                <a16:creationId xmlns:a16="http://schemas.microsoft.com/office/drawing/2014/main" id="{A69661A4-570D-4A44-9770-25DD91C859C5}"/>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253509-7CFE-4A60-A3CD-64B87927C24A}"/>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Vopak phishing drill concept and current Vopak operating practice</a:t>
            </a:r>
          </a:p>
        </p:txBody>
      </p:sp>
      <p:sp>
        <p:nvSpPr>
          <p:cNvPr id="19" name="">
            <a:extLst xmlns:a="http://schemas.openxmlformats.org/drawingml/2006/main">
              <a:ext uri="{FF2B5EF4-FFF2-40B4-BE49-F238E27FC236}">
                <a16:creationId xmlns:a16="http://schemas.microsoft.com/office/drawing/2014/main" id="{92D53A18-F319-45A1-B988-4EBF7E883099}"/>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03</a:t>
            </a:r>
          </a:p>
        </p:txBody>
      </p:sp>
    </p:spTree>
    <p:extLst>
      <p:ext uri="{BB962C8B-B14F-4D97-AF65-F5344CB8AC3E}">
        <p14:creationId xmlns:p14="http://schemas.microsoft.com/office/powerpoint/2010/main" val="7716151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a1635f2e6324821"/>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EB852E-055D-4AD6-8EAF-1886A4E201B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2508F0-E887-4482-BCE2-157404F4A99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850" b="1">
                <a:solidFill>
                  <a:srgbClr val="0A2373"/>
                </a:solidFill>
                <a:latin typeface="Nimbus Sans"/>
                <a:ea typeface="Nimbus Sans"/>
                <a:cs typeface="Nimbus Sans"/>
              </a:defRPr>
            </a:pPr>
            <a:r>
              <a:rPr sz="2850" b="1">
                <a:solidFill>
                  <a:srgbClr val="0A2373"/>
                </a:solidFill>
                <a:latin typeface="Nimbus Sans"/>
                <a:ea typeface="Nimbus Sans"/>
                <a:cs typeface="Nimbus Sans"/>
              </a:rPr>
              <a:t>Hoxhunt is the first reporting path for suspicious Vopak email</a:t>
            </a:r>
          </a:p>
        </p:txBody>
      </p:sp>
      <p:sp>
        <p:nvSpPr>
          <p:cNvPr id="4" name="">
            <a:extLst xmlns:a="http://schemas.openxmlformats.org/drawingml/2006/main">
              <a:ext uri="{FF2B5EF4-FFF2-40B4-BE49-F238E27FC236}">
                <a16:creationId xmlns:a16="http://schemas.microsoft.com/office/drawing/2014/main" id="{3D2315BE-D844-42FF-AA2F-8955B5B35F8B}"/>
              </a:ext>
            </a:extLst>
          </p:cNvPr>
          <p:cNvSpPr>
            <a:spLocks xmlns:a="http://schemas.openxmlformats.org/drawingml/2006/main" noGrp="1"/>
          </p:cNvSpPr>
          <p:nvPr/>
        </p:nvSpPr>
        <p:spPr>
          <a:xfrm xmlns:a="http://schemas.openxmlformats.org/drawingml/2006/main">
            <a:off x="685800" y="2152650"/>
            <a:ext cx="3371850" cy="3143250"/>
          </a:xfrm>
          <a:prstGeom xmlns:a="http://schemas.openxmlformats.org/drawingml/2006/main" prst="roundRect">
            <a:avLst>
              <a:gd name="adj" fmla="val 2424"/>
            </a:avLst>
          </a:prstGeom>
          <a:solidFill xmlns:a="http://schemas.openxmlformats.org/drawingml/2006/main">
            <a:srgbClr val="0A237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FC832D-A860-4B27-B54B-CED2B82052AB}"/>
              </a:ext>
            </a:extLst>
          </p:cNvPr>
          <p:cNvSpPr>
            <a:spLocks xmlns:a="http://schemas.openxmlformats.org/drawingml/2006/main" noGrp="1"/>
          </p:cNvSpPr>
          <p:nvPr/>
        </p:nvSpPr>
        <p:spPr>
          <a:xfrm xmlns:a="http://schemas.openxmlformats.org/drawingml/2006/main">
            <a:off x="1009650" y="2400300"/>
            <a:ext cx="685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050" b="1">
                <a:solidFill>
                  <a:srgbClr val="00CFE1"/>
                </a:solidFill>
                <a:latin typeface="Nimbus Sans"/>
                <a:ea typeface="Nimbus Sans"/>
                <a:cs typeface="Nimbus Sans"/>
              </a:defRPr>
            </a:pPr>
            <a:r>
              <a:rPr sz="4050" b="1">
                <a:solidFill>
                  <a:srgbClr val="00CFE1"/>
                </a:solidFill>
                <a:latin typeface="Nimbus Sans"/>
                <a:ea typeface="Nimbus Sans"/>
                <a:cs typeface="Nimbus Sans"/>
              </a:rPr>
              <a:t>1</a:t>
            </a:r>
          </a:p>
        </p:txBody>
      </p:sp>
      <p:sp>
        <p:nvSpPr>
          <p:cNvPr id="6" name="">
            <a:extLst xmlns:a="http://schemas.openxmlformats.org/drawingml/2006/main">
              <a:ext uri="{FF2B5EF4-FFF2-40B4-BE49-F238E27FC236}">
                <a16:creationId xmlns:a16="http://schemas.microsoft.com/office/drawing/2014/main" id="{2ACCB3D9-3246-4FA0-AC60-3031C4FDEC03}"/>
              </a:ext>
            </a:extLst>
          </p:cNvPr>
          <p:cNvSpPr>
            <a:spLocks xmlns:a="http://schemas.openxmlformats.org/drawingml/2006/main" noGrp="1"/>
          </p:cNvSpPr>
          <p:nvPr/>
        </p:nvSpPr>
        <p:spPr>
          <a:xfrm xmlns:a="http://schemas.openxmlformats.org/drawingml/2006/main">
            <a:off x="1009650" y="3143250"/>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FFFFFF"/>
                </a:solidFill>
                <a:latin typeface="Nimbus Sans"/>
                <a:ea typeface="Nimbus Sans"/>
                <a:cs typeface="Nimbus Sans"/>
              </a:defRPr>
            </a:pPr>
            <a:r>
              <a:rPr sz="2175" b="1">
                <a:solidFill>
                  <a:srgbClr val="FFFFFF"/>
                </a:solidFill>
                <a:latin typeface="Nimbus Sans"/>
                <a:ea typeface="Nimbus Sans"/>
                <a:cs typeface="Nimbus Sans"/>
              </a:rPr>
              <a:t>Stop interacting</a:t>
            </a:r>
          </a:p>
        </p:txBody>
      </p:sp>
      <p:sp>
        <p:nvSpPr>
          <p:cNvPr id="7" name="">
            <a:extLst xmlns:a="http://schemas.openxmlformats.org/drawingml/2006/main">
              <a:ext uri="{FF2B5EF4-FFF2-40B4-BE49-F238E27FC236}">
                <a16:creationId xmlns:a16="http://schemas.microsoft.com/office/drawing/2014/main" id="{7AC957AE-3A00-46CA-8307-D3CA42D94B5A}"/>
              </a:ext>
            </a:extLst>
          </p:cNvPr>
          <p:cNvSpPr>
            <a:spLocks xmlns:a="http://schemas.openxmlformats.org/drawingml/2006/main" noGrp="1"/>
          </p:cNvSpPr>
          <p:nvPr/>
        </p:nvSpPr>
        <p:spPr>
          <a:xfrm xmlns:a="http://schemas.openxmlformats.org/drawingml/2006/main">
            <a:off x="1009650" y="3714750"/>
            <a:ext cx="27241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Leave the message available and do not forward it manually.</a:t>
            </a:r>
          </a:p>
        </p:txBody>
      </p:sp>
      <p:sp>
        <p:nvSpPr>
          <p:cNvPr id="8" name="">
            <a:extLst xmlns:a="http://schemas.openxmlformats.org/drawingml/2006/main">
              <a:ext uri="{FF2B5EF4-FFF2-40B4-BE49-F238E27FC236}">
                <a16:creationId xmlns:a16="http://schemas.microsoft.com/office/drawing/2014/main" id="{B177C85C-740E-44CB-A85E-A5F92FD1E3F2}"/>
              </a:ext>
            </a:extLst>
          </p:cNvPr>
          <p:cNvSpPr>
            <a:spLocks xmlns:a="http://schemas.openxmlformats.org/drawingml/2006/main" noGrp="1"/>
          </p:cNvSpPr>
          <p:nvPr/>
        </p:nvSpPr>
        <p:spPr>
          <a:xfrm xmlns:a="http://schemas.openxmlformats.org/drawingml/2006/main">
            <a:off x="4362450" y="2152650"/>
            <a:ext cx="3371850" cy="3143250"/>
          </a:xfrm>
          <a:prstGeom xmlns:a="http://schemas.openxmlformats.org/drawingml/2006/main" prst="roundRect">
            <a:avLst>
              <a:gd name="adj" fmla="val 2424"/>
            </a:avLst>
          </a:prstGeom>
          <a:solidFill xmlns:a="http://schemas.openxmlformats.org/drawingml/2006/main">
            <a:srgbClr val="F4F7F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D09FC6-FF88-4CAB-807D-39ED7EF439C1}"/>
              </a:ext>
            </a:extLst>
          </p:cNvPr>
          <p:cNvSpPr>
            <a:spLocks xmlns:a="http://schemas.openxmlformats.org/drawingml/2006/main" noGrp="1"/>
          </p:cNvSpPr>
          <p:nvPr/>
        </p:nvSpPr>
        <p:spPr>
          <a:xfrm xmlns:a="http://schemas.openxmlformats.org/drawingml/2006/main">
            <a:off x="4686300" y="2400300"/>
            <a:ext cx="685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050" b="1">
                <a:solidFill>
                  <a:srgbClr val="283CE1"/>
                </a:solidFill>
                <a:latin typeface="Nimbus Sans"/>
                <a:ea typeface="Nimbus Sans"/>
                <a:cs typeface="Nimbus Sans"/>
              </a:defRPr>
            </a:pPr>
            <a:r>
              <a:rPr sz="4050" b="1">
                <a:solidFill>
                  <a:srgbClr val="283CE1"/>
                </a:solidFill>
                <a:latin typeface="Nimbus Sans"/>
                <a:ea typeface="Nimbus Sans"/>
                <a:cs typeface="Nimbus Sans"/>
              </a:rPr>
              <a:t>2</a:t>
            </a:r>
          </a:p>
        </p:txBody>
      </p:sp>
      <p:sp>
        <p:nvSpPr>
          <p:cNvPr id="10" name="">
            <a:extLst xmlns:a="http://schemas.openxmlformats.org/drawingml/2006/main">
              <a:ext uri="{FF2B5EF4-FFF2-40B4-BE49-F238E27FC236}">
                <a16:creationId xmlns:a16="http://schemas.microsoft.com/office/drawing/2014/main" id="{8B55938D-A146-46E0-A4E0-9DF7A0C97DBD}"/>
              </a:ext>
            </a:extLst>
          </p:cNvPr>
          <p:cNvSpPr>
            <a:spLocks xmlns:a="http://schemas.openxmlformats.org/drawingml/2006/main" noGrp="1"/>
          </p:cNvSpPr>
          <p:nvPr/>
        </p:nvSpPr>
        <p:spPr>
          <a:xfrm xmlns:a="http://schemas.openxmlformats.org/drawingml/2006/main">
            <a:off x="4686300" y="3143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0A2373"/>
                </a:solidFill>
                <a:latin typeface="Nimbus Sans"/>
                <a:ea typeface="Nimbus Sans"/>
                <a:cs typeface="Nimbus Sans"/>
              </a:defRPr>
            </a:pPr>
            <a:r>
              <a:rPr sz="2100" b="1">
                <a:solidFill>
                  <a:srgbClr val="0A2373"/>
                </a:solidFill>
                <a:latin typeface="Nimbus Sans"/>
                <a:ea typeface="Nimbus Sans"/>
                <a:cs typeface="Nimbus Sans"/>
              </a:rPr>
              <a:t>Use the Hoxhunt button</a:t>
            </a:r>
          </a:p>
        </p:txBody>
      </p:sp>
      <p:sp>
        <p:nvSpPr>
          <p:cNvPr id="11" name="">
            <a:extLst xmlns:a="http://schemas.openxmlformats.org/drawingml/2006/main">
              <a:ext uri="{FF2B5EF4-FFF2-40B4-BE49-F238E27FC236}">
                <a16:creationId xmlns:a16="http://schemas.microsoft.com/office/drawing/2014/main" id="{840C805C-9945-44FC-8DDC-7D58425166CD}"/>
              </a:ext>
            </a:extLst>
          </p:cNvPr>
          <p:cNvSpPr>
            <a:spLocks xmlns:a="http://schemas.openxmlformats.org/drawingml/2006/main" noGrp="1"/>
          </p:cNvSpPr>
          <p:nvPr/>
        </p:nvSpPr>
        <p:spPr>
          <a:xfrm xmlns:a="http://schemas.openxmlformats.org/drawingml/2006/main">
            <a:off x="4686300" y="3905250"/>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The report sends the potentially dangerous message to the Vopak SOC for analysis.</a:t>
            </a:r>
          </a:p>
        </p:txBody>
      </p:sp>
      <p:sp>
        <p:nvSpPr>
          <p:cNvPr id="12" name="">
            <a:extLst xmlns:a="http://schemas.openxmlformats.org/drawingml/2006/main">
              <a:ext uri="{FF2B5EF4-FFF2-40B4-BE49-F238E27FC236}">
                <a16:creationId xmlns:a16="http://schemas.microsoft.com/office/drawing/2014/main" id="{3CCC25DA-9365-4D96-B75F-8B7467EB44D7}"/>
              </a:ext>
            </a:extLst>
          </p:cNvPr>
          <p:cNvSpPr>
            <a:spLocks xmlns:a="http://schemas.openxmlformats.org/drawingml/2006/main" noGrp="1"/>
          </p:cNvSpPr>
          <p:nvPr/>
        </p:nvSpPr>
        <p:spPr>
          <a:xfrm xmlns:a="http://schemas.openxmlformats.org/drawingml/2006/main">
            <a:off x="8039100" y="2152650"/>
            <a:ext cx="3467100" cy="3143250"/>
          </a:xfrm>
          <a:prstGeom xmlns:a="http://schemas.openxmlformats.org/drawingml/2006/main" prst="roundRect">
            <a:avLst>
              <a:gd name="adj" fmla="val 2424"/>
            </a:avLst>
          </a:prstGeom>
          <a:solidFill xmlns:a="http://schemas.openxmlformats.org/drawingml/2006/main">
            <a:srgbClr val="F4F7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9C3196E-7102-4043-85F9-506B8D8293C3}"/>
              </a:ext>
            </a:extLst>
          </p:cNvPr>
          <p:cNvSpPr>
            <a:spLocks xmlns:a="http://schemas.openxmlformats.org/drawingml/2006/main" noGrp="1"/>
          </p:cNvSpPr>
          <p:nvPr/>
        </p:nvSpPr>
        <p:spPr>
          <a:xfrm xmlns:a="http://schemas.openxmlformats.org/drawingml/2006/main">
            <a:off x="8362950" y="2400300"/>
            <a:ext cx="685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050" b="1">
                <a:solidFill>
                  <a:srgbClr val="009EF5"/>
                </a:solidFill>
                <a:latin typeface="Nimbus Sans"/>
                <a:ea typeface="Nimbus Sans"/>
                <a:cs typeface="Nimbus Sans"/>
              </a:defRPr>
            </a:pPr>
            <a:r>
              <a:rPr sz="4050" b="1">
                <a:solidFill>
                  <a:srgbClr val="009EF5"/>
                </a:solidFill>
                <a:latin typeface="Nimbus Sans"/>
                <a:ea typeface="Nimbus Sans"/>
                <a:cs typeface="Nimbus Sans"/>
              </a:rPr>
              <a:t>3</a:t>
            </a:r>
          </a:p>
        </p:txBody>
      </p:sp>
      <p:sp>
        <p:nvSpPr>
          <p:cNvPr id="14" name="">
            <a:extLst xmlns:a="http://schemas.openxmlformats.org/drawingml/2006/main">
              <a:ext uri="{FF2B5EF4-FFF2-40B4-BE49-F238E27FC236}">
                <a16:creationId xmlns:a16="http://schemas.microsoft.com/office/drawing/2014/main" id="{DA79D9AA-2953-484A-BDBE-2DAE4E5952AB}"/>
              </a:ext>
            </a:extLst>
          </p:cNvPr>
          <p:cNvSpPr>
            <a:spLocks xmlns:a="http://schemas.openxmlformats.org/drawingml/2006/main" noGrp="1"/>
          </p:cNvSpPr>
          <p:nvPr/>
        </p:nvSpPr>
        <p:spPr>
          <a:xfrm xmlns:a="http://schemas.openxmlformats.org/drawingml/2006/main">
            <a:off x="8362950" y="314325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0A2373"/>
                </a:solidFill>
                <a:latin typeface="Nimbus Sans"/>
                <a:ea typeface="Nimbus Sans"/>
                <a:cs typeface="Nimbus Sans"/>
              </a:defRPr>
            </a:pPr>
            <a:r>
              <a:rPr sz="2175" b="1">
                <a:solidFill>
                  <a:srgbClr val="0A2373"/>
                </a:solidFill>
                <a:latin typeface="Nimbus Sans"/>
                <a:ea typeface="Nimbus Sans"/>
                <a:cs typeface="Nimbus Sans"/>
              </a:rPr>
              <a:t>Follow the response</a:t>
            </a:r>
          </a:p>
        </p:txBody>
      </p:sp>
      <p:sp>
        <p:nvSpPr>
          <p:cNvPr id="15" name="">
            <a:extLst xmlns:a="http://schemas.openxmlformats.org/drawingml/2006/main">
              <a:ext uri="{FF2B5EF4-FFF2-40B4-BE49-F238E27FC236}">
                <a16:creationId xmlns:a16="http://schemas.microsoft.com/office/drawing/2014/main" id="{8A2FA0D7-C0D9-4D8C-9F78-8528743490A2}"/>
              </a:ext>
            </a:extLst>
          </p:cNvPr>
          <p:cNvSpPr>
            <a:spLocks xmlns:a="http://schemas.openxmlformats.org/drawingml/2006/main" noGrp="1"/>
          </p:cNvSpPr>
          <p:nvPr/>
        </p:nvSpPr>
        <p:spPr>
          <a:xfrm xmlns:a="http://schemas.openxmlformats.org/drawingml/2006/main">
            <a:off x="8362950" y="3714750"/>
            <a:ext cx="2819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If the message was only suspected and no interaction occurred, follow the SOC guidance.</a:t>
            </a:r>
          </a:p>
        </p:txBody>
      </p:sp>
      <p:sp>
        <p:nvSpPr>
          <p:cNvPr id="16" name="">
            <a:extLst xmlns:a="http://schemas.openxmlformats.org/drawingml/2006/main">
              <a:ext uri="{FF2B5EF4-FFF2-40B4-BE49-F238E27FC236}">
                <a16:creationId xmlns:a16="http://schemas.microsoft.com/office/drawing/2014/main" id="{F5B53794-18E4-44E3-8F20-8B9FCC06EFCF}"/>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F3928A4-7B61-4B7D-A9D7-9600D9B034DF}"/>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Vopak Hoxhunt phishing reporting process</a:t>
            </a:r>
          </a:p>
        </p:txBody>
      </p:sp>
      <p:sp>
        <p:nvSpPr>
          <p:cNvPr id="18" name="">
            <a:extLst xmlns:a="http://schemas.openxmlformats.org/drawingml/2006/main">
              <a:ext uri="{FF2B5EF4-FFF2-40B4-BE49-F238E27FC236}">
                <a16:creationId xmlns:a16="http://schemas.microsoft.com/office/drawing/2014/main" id="{8639E241-F0CE-4337-A001-C18DBA6FE8EC}"/>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04</a:t>
            </a:r>
          </a:p>
        </p:txBody>
      </p:sp>
    </p:spTree>
    <p:extLst>
      <p:ext uri="{BB962C8B-B14F-4D97-AF65-F5344CB8AC3E}">
        <p14:creationId xmlns:p14="http://schemas.microsoft.com/office/powerpoint/2010/main" val="10157464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9562414fcf746bd"/>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6AF1BF-EEB6-4A18-83FC-8F6C735E7FC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F011BC-D9FB-418B-9DA4-9928BA236FBC}"/>
              </a:ext>
            </a:extLst>
          </p:cNvPr>
          <p:cNvSpPr>
            <a:spLocks xmlns:a="http://schemas.openxmlformats.org/drawingml/2006/main" noGrp="1"/>
          </p:cNvSpPr>
          <p:nvPr/>
        </p:nvSpPr>
        <p:spPr>
          <a:xfrm xmlns:a="http://schemas.openxmlformats.org/drawingml/2006/main">
            <a:off x="685800" y="1066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0A2373"/>
                </a:solidFill>
                <a:latin typeface="Nimbus Sans"/>
                <a:ea typeface="Nimbus Sans"/>
                <a:cs typeface="Nimbus Sans"/>
              </a:defRPr>
            </a:pPr>
            <a:r>
              <a:rPr sz="3450" b="1">
                <a:solidFill>
                  <a:srgbClr val="0A2373"/>
                </a:solidFill>
                <a:latin typeface="Nimbus Sans"/>
                <a:ea typeface="Nimbus Sans"/>
                <a:cs typeface="Nimbus Sans"/>
              </a:rPr>
              <a:t>Hoxhunt report versus cyber incident escalation</a:t>
            </a:r>
          </a:p>
        </p:txBody>
      </p:sp>
      <p:sp>
        <p:nvSpPr>
          <p:cNvPr id="4" name="">
            <a:extLst xmlns:a="http://schemas.openxmlformats.org/drawingml/2006/main">
              <a:ext uri="{FF2B5EF4-FFF2-40B4-BE49-F238E27FC236}">
                <a16:creationId xmlns:a16="http://schemas.microsoft.com/office/drawing/2014/main" id="{0BD96F6A-2755-41A9-9877-BB8E05C585C6}"/>
              </a:ext>
            </a:extLst>
          </p:cNvPr>
          <p:cNvSpPr>
            <a:spLocks xmlns:a="http://schemas.openxmlformats.org/drawingml/2006/main" noGrp="1"/>
          </p:cNvSpPr>
          <p:nvPr/>
        </p:nvSpPr>
        <p:spPr>
          <a:xfrm xmlns:a="http://schemas.openxmlformats.org/drawingml/2006/main">
            <a:off x="781050" y="175260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0A2373"/>
                </a:solidFill>
                <a:latin typeface="Nimbus Sans"/>
                <a:ea typeface="Nimbus Sans"/>
                <a:cs typeface="Nimbus Sans"/>
              </a:defRPr>
            </a:pPr>
            <a:r>
              <a:rPr sz="2325" b="1">
                <a:solidFill>
                  <a:srgbClr val="0A2373"/>
                </a:solidFill>
                <a:latin typeface="Nimbus Sans"/>
                <a:ea typeface="Nimbus Sans"/>
                <a:cs typeface="Nimbus Sans"/>
              </a:rPr>
              <a:t>Hoxhunt report</a:t>
            </a:r>
          </a:p>
        </p:txBody>
      </p:sp>
      <p:sp>
        <p:nvSpPr>
          <p:cNvPr id="5" name="">
            <a:extLst xmlns:a="http://schemas.openxmlformats.org/drawingml/2006/main">
              <a:ext uri="{FF2B5EF4-FFF2-40B4-BE49-F238E27FC236}">
                <a16:creationId xmlns:a16="http://schemas.microsoft.com/office/drawing/2014/main" id="{250FAA28-5BBA-4432-B23F-448C5076C011}"/>
              </a:ext>
            </a:extLst>
          </p:cNvPr>
          <p:cNvSpPr>
            <a:spLocks xmlns:a="http://schemas.openxmlformats.org/drawingml/2006/main" noGrp="1"/>
          </p:cNvSpPr>
          <p:nvPr/>
        </p:nvSpPr>
        <p:spPr>
          <a:xfrm xmlns:a="http://schemas.openxmlformats.org/drawingml/2006/main">
            <a:off x="781050" y="22479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46555A"/>
                </a:solidFill>
                <a:latin typeface="Nimbus Sans"/>
                <a:ea typeface="Nimbus Sans"/>
                <a:cs typeface="Nimbus Sans"/>
              </a:defRPr>
            </a:pPr>
            <a:r>
              <a:rPr sz="1725" b="1">
                <a:solidFill>
                  <a:srgbClr val="46555A"/>
                </a:solidFill>
                <a:latin typeface="Nimbus Sans"/>
                <a:ea typeface="Nimbus Sans"/>
                <a:cs typeface="Nimbus Sans"/>
              </a:rPr>
              <a:t>Use for every suspected phishing email</a:t>
            </a:r>
          </a:p>
        </p:txBody>
      </p:sp>
      <p:sp>
        <p:nvSpPr>
          <p:cNvPr id="6" name="">
            <a:extLst xmlns:a="http://schemas.openxmlformats.org/drawingml/2006/main">
              <a:ext uri="{FF2B5EF4-FFF2-40B4-BE49-F238E27FC236}">
                <a16:creationId xmlns:a16="http://schemas.microsoft.com/office/drawing/2014/main" id="{F978CE48-D549-4520-A49B-34A621EC0A6E}"/>
              </a:ext>
            </a:extLst>
          </p:cNvPr>
          <p:cNvSpPr>
            <a:spLocks xmlns:a="http://schemas.openxmlformats.org/drawingml/2006/main" noGrp="1"/>
          </p:cNvSpPr>
          <p:nvPr/>
        </p:nvSpPr>
        <p:spPr>
          <a:xfrm xmlns:a="http://schemas.openxmlformats.org/drawingml/2006/main">
            <a:off x="876300" y="2838450"/>
            <a:ext cx="46101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1200"/>
              </a:spcAft>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No link, attachment, QR code, or credential interaction</a:t>
            </a:r>
          </a:p>
          <a:p xmlns:a="http://schemas.openxmlformats.org/drawingml/2006/main">
            <a:pPr marL="279400" indent="-139700" algn="l">
              <a:lnSpc>
                <a:spcPct val="108000"/>
              </a:lnSpc>
              <a:spcAft>
                <a:spcPts val="1200"/>
              </a:spcAft>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No unusual account, device, file, or system behavior</a:t>
            </a:r>
          </a:p>
          <a:p xmlns:a="http://schemas.openxmlformats.org/drawingml/2006/main">
            <a:pPr marL="279400" indent="-139700" algn="l">
              <a:lnSpc>
                <a:spcPct val="108000"/>
              </a:lnSpc>
              <a:spcAft>
                <a:spcPts val="1200"/>
              </a:spcAft>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No known safety or operational impact</a:t>
            </a:r>
          </a:p>
        </p:txBody>
      </p:sp>
      <p:sp>
        <p:nvSpPr>
          <p:cNvPr id="7" name="">
            <a:extLst xmlns:a="http://schemas.openxmlformats.org/drawingml/2006/main">
              <a:ext uri="{FF2B5EF4-FFF2-40B4-BE49-F238E27FC236}">
                <a16:creationId xmlns:a16="http://schemas.microsoft.com/office/drawing/2014/main" id="{0B97C678-EA94-4A26-B781-E3C98A7901C7}"/>
              </a:ext>
            </a:extLst>
          </p:cNvPr>
          <p:cNvSpPr>
            <a:spLocks xmlns:a="http://schemas.openxmlformats.org/drawingml/2006/main" noGrp="1"/>
          </p:cNvSpPr>
          <p:nvPr/>
        </p:nvSpPr>
        <p:spPr>
          <a:xfrm xmlns:a="http://schemas.openxmlformats.org/drawingml/2006/main">
            <a:off x="6000750" y="1638300"/>
            <a:ext cx="19050" cy="3695700"/>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81494E-32DC-45B6-9B0F-A50C46A0EF8E}"/>
              </a:ext>
            </a:extLst>
          </p:cNvPr>
          <p:cNvSpPr>
            <a:spLocks xmlns:a="http://schemas.openxmlformats.org/drawingml/2006/main" noGrp="1"/>
          </p:cNvSpPr>
          <p:nvPr/>
        </p:nvSpPr>
        <p:spPr>
          <a:xfrm xmlns:a="http://schemas.openxmlformats.org/drawingml/2006/main">
            <a:off x="6515100" y="1752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0A2373"/>
                </a:solidFill>
                <a:latin typeface="Nimbus Sans"/>
                <a:ea typeface="Nimbus Sans"/>
                <a:cs typeface="Nimbus Sans"/>
              </a:defRPr>
            </a:pPr>
            <a:r>
              <a:rPr sz="2325" b="1">
                <a:solidFill>
                  <a:srgbClr val="0A2373"/>
                </a:solidFill>
                <a:latin typeface="Nimbus Sans"/>
                <a:ea typeface="Nimbus Sans"/>
                <a:cs typeface="Nimbus Sans"/>
              </a:rPr>
              <a:t>Hoxhunt plus escalation</a:t>
            </a:r>
          </a:p>
        </p:txBody>
      </p:sp>
      <p:sp>
        <p:nvSpPr>
          <p:cNvPr id="9" name="">
            <a:extLst xmlns:a="http://schemas.openxmlformats.org/drawingml/2006/main">
              <a:ext uri="{FF2B5EF4-FFF2-40B4-BE49-F238E27FC236}">
                <a16:creationId xmlns:a16="http://schemas.microsoft.com/office/drawing/2014/main" id="{C8106106-35BC-405F-83D2-199EF124255C}"/>
              </a:ext>
            </a:extLst>
          </p:cNvPr>
          <p:cNvSpPr>
            <a:spLocks xmlns:a="http://schemas.openxmlformats.org/drawingml/2006/main" noGrp="1"/>
          </p:cNvSpPr>
          <p:nvPr/>
        </p:nvSpPr>
        <p:spPr>
          <a:xfrm xmlns:a="http://schemas.openxmlformats.org/drawingml/2006/main">
            <a:off x="6515100" y="23050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a:solidFill>
                  <a:srgbClr val="C62828"/>
                </a:solidFill>
                <a:latin typeface="Nimbus Sans"/>
                <a:ea typeface="Nimbus Sans"/>
                <a:cs typeface="Nimbus Sans"/>
              </a:defRPr>
            </a:pPr>
            <a:r>
              <a:rPr sz="1650" b="1">
                <a:solidFill>
                  <a:srgbClr val="C62828"/>
                </a:solidFill>
                <a:latin typeface="Nimbus Sans"/>
                <a:ea typeface="Nimbus Sans"/>
                <a:cs typeface="Nimbus Sans"/>
              </a:rPr>
              <a:t>Contact local IT or the OT focal point immediately</a:t>
            </a:r>
          </a:p>
        </p:txBody>
      </p:sp>
      <p:sp>
        <p:nvSpPr>
          <p:cNvPr id="10" name="">
            <a:extLst xmlns:a="http://schemas.openxmlformats.org/drawingml/2006/main">
              <a:ext uri="{FF2B5EF4-FFF2-40B4-BE49-F238E27FC236}">
                <a16:creationId xmlns:a16="http://schemas.microsoft.com/office/drawing/2014/main" id="{7D524091-1478-4AB2-B65A-F892111D0ABF}"/>
              </a:ext>
            </a:extLst>
          </p:cNvPr>
          <p:cNvSpPr>
            <a:spLocks xmlns:a="http://schemas.openxmlformats.org/drawingml/2006/main" noGrp="1"/>
          </p:cNvSpPr>
          <p:nvPr/>
        </p:nvSpPr>
        <p:spPr>
          <a:xfrm xmlns:a="http://schemas.openxmlformats.org/drawingml/2006/main">
            <a:off x="6610350" y="2971800"/>
            <a:ext cx="47244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8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The user clicked, opened, downloaded, replied, or entered credentials</a:t>
            </a:r>
          </a:p>
          <a:p xmlns:a="http://schemas.openxmlformats.org/drawingml/2006/main">
            <a:pPr marL="279400" indent="-139700" algn="l">
              <a:lnSpc>
                <a:spcPct val="108000"/>
              </a:lnSpc>
              <a:spcAft>
                <a:spcPts val="8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The account or device behaves unusually</a:t>
            </a:r>
          </a:p>
          <a:p xmlns:a="http://schemas.openxmlformats.org/drawingml/2006/main">
            <a:pPr marL="279400" indent="-139700" algn="l">
              <a:lnSpc>
                <a:spcPct val="108000"/>
              </a:lnSpc>
              <a:spcAft>
                <a:spcPts val="8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Files changed, became unavailable, or appear encrypted</a:t>
            </a:r>
          </a:p>
          <a:p xmlns:a="http://schemas.openxmlformats.org/drawingml/2006/main">
            <a:pPr marL="279400" indent="-139700" algn="l">
              <a:lnSpc>
                <a:spcPct val="108000"/>
              </a:lnSpc>
              <a:spcAft>
                <a:spcPts val="8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The event may affect remote access, an OT system, safety, or operations</a:t>
            </a:r>
          </a:p>
        </p:txBody>
      </p:sp>
      <p:sp>
        <p:nvSpPr>
          <p:cNvPr id="11" name="">
            <a:extLst xmlns:a="http://schemas.openxmlformats.org/drawingml/2006/main">
              <a:ext uri="{FF2B5EF4-FFF2-40B4-BE49-F238E27FC236}">
                <a16:creationId xmlns:a16="http://schemas.microsoft.com/office/drawing/2014/main" id="{4C212EC6-7B30-4657-86A1-3D3E395414D7}"/>
              </a:ext>
            </a:extLst>
          </p:cNvPr>
          <p:cNvSpPr>
            <a:spLocks xmlns:a="http://schemas.openxmlformats.org/drawingml/2006/main" noGrp="1"/>
          </p:cNvSpPr>
          <p:nvPr/>
        </p:nvSpPr>
        <p:spPr>
          <a:xfrm xmlns:a="http://schemas.openxmlformats.org/drawingml/2006/main">
            <a:off x="876300" y="55054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a:solidFill>
                  <a:srgbClr val="0A2373"/>
                </a:solidFill>
                <a:latin typeface="Nimbus Sans"/>
                <a:ea typeface="Nimbus Sans"/>
                <a:cs typeface="Nimbus Sans"/>
              </a:defRPr>
            </a:pPr>
            <a:r>
              <a:rPr sz="1725" b="1">
                <a:solidFill>
                  <a:srgbClr val="0A2373"/>
                </a:solidFill>
                <a:latin typeface="Nimbus Sans"/>
                <a:ea typeface="Nimbus Sans"/>
                <a:cs typeface="Nimbus Sans"/>
              </a:rPr>
              <a:t>A Hoxhunt report reaches the SOC. It does not replace the broader response when compromise or impact is suspected.</a:t>
            </a:r>
          </a:p>
        </p:txBody>
      </p:sp>
      <p:sp>
        <p:nvSpPr>
          <p:cNvPr id="12" name="">
            <a:extLst xmlns:a="http://schemas.openxmlformats.org/drawingml/2006/main">
              <a:ext uri="{FF2B5EF4-FFF2-40B4-BE49-F238E27FC236}">
                <a16:creationId xmlns:a16="http://schemas.microsoft.com/office/drawing/2014/main" id="{94B21DD5-599F-41FB-95C2-254836BBFF03}"/>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BA28DD9-25FE-4301-B063-7ADDC557E117}"/>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Vopak GIT CIS Guideline, Appendix A</a:t>
            </a:r>
          </a:p>
        </p:txBody>
      </p:sp>
      <p:sp>
        <p:nvSpPr>
          <p:cNvPr id="14" name="">
            <a:extLst xmlns:a="http://schemas.openxmlformats.org/drawingml/2006/main">
              <a:ext uri="{FF2B5EF4-FFF2-40B4-BE49-F238E27FC236}">
                <a16:creationId xmlns:a16="http://schemas.microsoft.com/office/drawing/2014/main" id="{3735DD3E-632C-4FD8-9664-3C20A352EB79}"/>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05</a:t>
            </a:r>
          </a:p>
        </p:txBody>
      </p:sp>
    </p:spTree>
    <p:extLst>
      <p:ext uri="{BB962C8B-B14F-4D97-AF65-F5344CB8AC3E}">
        <p14:creationId xmlns:p14="http://schemas.microsoft.com/office/powerpoint/2010/main" val="556684384"/>
      </p:ext>
    </p:extLst>
  </p:cSld>
</p:sld>
</file>

<file path=ppt/slides/slide6.xml><?xml version="1.0" encoding="utf-8"?>
<p:sld xmlns:p="http://schemas.openxmlformats.org/presentationml/2006/main">
  <p:cSld>
    <p:bg>
      <p:bgPr>
        <a:solidFill xmlns:a="http://schemas.openxmlformats.org/drawingml/2006/main">
          <a:srgbClr val="0A2373"/>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8bd371e8420412f"/>
          <a:stretch xmlns:a="http://schemas.openxmlformats.org/drawingml/2006/main"/>
        </p:blipFill>
        <p:spPr>
          <a:xfrm xmlns:a="http://schemas.openxmlformats.org/drawingml/2006/main">
            <a:off x="704850" y="416719"/>
            <a:ext cx="2000250" cy="61436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B1BB85-7479-4E9B-804C-DD02CFE291E9}"/>
              </a:ext>
            </a:extLst>
          </p:cNvPr>
          <p:cNvSpPr>
            <a:spLocks xmlns:a="http://schemas.openxmlformats.org/drawingml/2006/main" noGrp="1"/>
          </p:cNvSpPr>
          <p:nvPr/>
        </p:nvSpPr>
        <p:spPr>
          <a:xfrm xmlns:a="http://schemas.openxmlformats.org/drawingml/2006/main">
            <a:off x="685800" y="13906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Vopak ABC incident response model</a:t>
            </a:r>
          </a:p>
        </p:txBody>
      </p:sp>
      <p:sp>
        <p:nvSpPr>
          <p:cNvPr id="3" name="">
            <a:extLst xmlns:a="http://schemas.openxmlformats.org/drawingml/2006/main">
              <a:ext uri="{FF2B5EF4-FFF2-40B4-BE49-F238E27FC236}">
                <a16:creationId xmlns:a16="http://schemas.microsoft.com/office/drawing/2014/main" id="{E3831713-A9AE-4ACC-B49A-C1CDBF7A692F}"/>
              </a:ext>
            </a:extLst>
          </p:cNvPr>
          <p:cNvSpPr>
            <a:spLocks xmlns:a="http://schemas.openxmlformats.org/drawingml/2006/main" noGrp="1"/>
          </p:cNvSpPr>
          <p:nvPr/>
        </p:nvSpPr>
        <p:spPr>
          <a:xfrm xmlns:a="http://schemas.openxmlformats.org/drawingml/2006/main">
            <a:off x="685800" y="2247900"/>
            <a:ext cx="3352800" cy="2990850"/>
          </a:xfrm>
          <a:prstGeom xmlns:a="http://schemas.openxmlformats.org/drawingml/2006/main" prst="roundRect">
            <a:avLst>
              <a:gd name="adj" fmla="val 2548"/>
            </a:avLst>
          </a:prstGeom>
          <a:solidFill xmlns:a="http://schemas.openxmlformats.org/drawingml/2006/main">
            <a:srgbClr val="071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9B27B9-6619-465A-A237-B5BDBC07E075}"/>
              </a:ext>
            </a:extLst>
          </p:cNvPr>
          <p:cNvSpPr>
            <a:spLocks xmlns:a="http://schemas.openxmlformats.org/drawingml/2006/main" noGrp="1"/>
          </p:cNvSpPr>
          <p:nvPr/>
        </p:nvSpPr>
        <p:spPr>
          <a:xfrm xmlns:a="http://schemas.openxmlformats.org/drawingml/2006/main">
            <a:off x="971550" y="2476500"/>
            <a:ext cx="60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350" b="1">
                <a:solidFill>
                  <a:srgbClr val="00CFE1"/>
                </a:solidFill>
                <a:latin typeface="Nimbus Sans"/>
                <a:ea typeface="Nimbus Sans"/>
                <a:cs typeface="Nimbus Sans"/>
              </a:defRPr>
            </a:pPr>
            <a:r>
              <a:rPr sz="4350" b="1">
                <a:solidFill>
                  <a:srgbClr val="00CFE1"/>
                </a:solidFill>
                <a:latin typeface="Nimbus Sans"/>
                <a:ea typeface="Nimbus Sans"/>
                <a:cs typeface="Nimbus Sans"/>
              </a:rPr>
              <a:t>A</a:t>
            </a:r>
          </a:p>
        </p:txBody>
      </p:sp>
      <p:sp>
        <p:nvSpPr>
          <p:cNvPr id="5" name="">
            <a:extLst xmlns:a="http://schemas.openxmlformats.org/drawingml/2006/main">
              <a:ext uri="{FF2B5EF4-FFF2-40B4-BE49-F238E27FC236}">
                <a16:creationId xmlns:a16="http://schemas.microsoft.com/office/drawing/2014/main" id="{9C164AAA-264F-4E27-A7F4-48C38A744EAA}"/>
              </a:ext>
            </a:extLst>
          </p:cNvPr>
          <p:cNvSpPr>
            <a:spLocks xmlns:a="http://schemas.openxmlformats.org/drawingml/2006/main" noGrp="1"/>
          </p:cNvSpPr>
          <p:nvPr/>
        </p:nvSpPr>
        <p:spPr>
          <a:xfrm xmlns:a="http://schemas.openxmlformats.org/drawingml/2006/main">
            <a:off x="971550" y="32575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Nimbus Sans"/>
                <a:ea typeface="Nimbus Sans"/>
                <a:cs typeface="Nimbus Sans"/>
              </a:defRPr>
            </a:pPr>
            <a:r>
              <a:rPr sz="2100" b="1">
                <a:solidFill>
                  <a:srgbClr val="FFFFFF"/>
                </a:solidFill>
                <a:latin typeface="Nimbus Sans"/>
                <a:ea typeface="Nimbus Sans"/>
                <a:cs typeface="Nimbus Sans"/>
              </a:rPr>
              <a:t>Assess the Situation</a:t>
            </a:r>
          </a:p>
        </p:txBody>
      </p:sp>
      <p:sp>
        <p:nvSpPr>
          <p:cNvPr id="6" name="">
            <a:extLst xmlns:a="http://schemas.openxmlformats.org/drawingml/2006/main">
              <a:ext uri="{FF2B5EF4-FFF2-40B4-BE49-F238E27FC236}">
                <a16:creationId xmlns:a16="http://schemas.microsoft.com/office/drawing/2014/main" id="{FD78C060-CED8-4BFE-A1D9-7A4D90BCD305}"/>
              </a:ext>
            </a:extLst>
          </p:cNvPr>
          <p:cNvSpPr>
            <a:spLocks xmlns:a="http://schemas.openxmlformats.org/drawingml/2006/main" noGrp="1"/>
          </p:cNvSpPr>
          <p:nvPr/>
        </p:nvSpPr>
        <p:spPr>
          <a:xfrm xmlns:a="http://schemas.openxmlformats.org/drawingml/2006/main">
            <a:off x="971550" y="4019550"/>
            <a:ext cx="2781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The user reports the signal. Local IT or the OT focal point gathers facts and determines whether the cyberattack is credible.</a:t>
            </a:r>
          </a:p>
        </p:txBody>
      </p:sp>
      <p:sp>
        <p:nvSpPr>
          <p:cNvPr id="7" name="">
            <a:extLst xmlns:a="http://schemas.openxmlformats.org/drawingml/2006/main">
              <a:ext uri="{FF2B5EF4-FFF2-40B4-BE49-F238E27FC236}">
                <a16:creationId xmlns:a16="http://schemas.microsoft.com/office/drawing/2014/main" id="{E761BF8D-9F60-4099-A98A-01BD3EE0CB76}"/>
              </a:ext>
            </a:extLst>
          </p:cNvPr>
          <p:cNvSpPr>
            <a:spLocks xmlns:a="http://schemas.openxmlformats.org/drawingml/2006/main" noGrp="1"/>
          </p:cNvSpPr>
          <p:nvPr/>
        </p:nvSpPr>
        <p:spPr>
          <a:xfrm xmlns:a="http://schemas.openxmlformats.org/drawingml/2006/main">
            <a:off x="4419600" y="2247900"/>
            <a:ext cx="3352800" cy="2990850"/>
          </a:xfrm>
          <a:prstGeom xmlns:a="http://schemas.openxmlformats.org/drawingml/2006/main" prst="roundRect">
            <a:avLst>
              <a:gd name="adj" fmla="val 2548"/>
            </a:avLst>
          </a:prstGeom>
          <a:solidFill xmlns:a="http://schemas.openxmlformats.org/drawingml/2006/main">
            <a:srgbClr val="142E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9457AD-9F6C-48D5-9412-2FC09348B68F}"/>
              </a:ext>
            </a:extLst>
          </p:cNvPr>
          <p:cNvSpPr>
            <a:spLocks xmlns:a="http://schemas.openxmlformats.org/drawingml/2006/main" noGrp="1"/>
          </p:cNvSpPr>
          <p:nvPr/>
        </p:nvSpPr>
        <p:spPr>
          <a:xfrm xmlns:a="http://schemas.openxmlformats.org/drawingml/2006/main">
            <a:off x="4705350" y="2476500"/>
            <a:ext cx="60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350" b="1">
                <a:solidFill>
                  <a:srgbClr val="00CFE1"/>
                </a:solidFill>
                <a:latin typeface="Nimbus Sans"/>
                <a:ea typeface="Nimbus Sans"/>
                <a:cs typeface="Nimbus Sans"/>
              </a:defRPr>
            </a:pPr>
            <a:r>
              <a:rPr sz="4350" b="1">
                <a:solidFill>
                  <a:srgbClr val="00CFE1"/>
                </a:solidFill>
                <a:latin typeface="Nimbus Sans"/>
                <a:ea typeface="Nimbus Sans"/>
                <a:cs typeface="Nimbus Sans"/>
              </a:rPr>
              <a:t>B</a:t>
            </a:r>
          </a:p>
        </p:txBody>
      </p:sp>
      <p:sp>
        <p:nvSpPr>
          <p:cNvPr id="9" name="">
            <a:extLst xmlns:a="http://schemas.openxmlformats.org/drawingml/2006/main">
              <a:ext uri="{FF2B5EF4-FFF2-40B4-BE49-F238E27FC236}">
                <a16:creationId xmlns:a16="http://schemas.microsoft.com/office/drawing/2014/main" id="{AF572669-BCDC-4F01-BA7A-23B9FE87AC9C}"/>
              </a:ext>
            </a:extLst>
          </p:cNvPr>
          <p:cNvSpPr>
            <a:spLocks xmlns:a="http://schemas.openxmlformats.org/drawingml/2006/main" noGrp="1"/>
          </p:cNvSpPr>
          <p:nvPr/>
        </p:nvSpPr>
        <p:spPr>
          <a:xfrm xmlns:a="http://schemas.openxmlformats.org/drawingml/2006/main">
            <a:off x="4705350" y="32575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Nimbus Sans"/>
                <a:ea typeface="Nimbus Sans"/>
                <a:cs typeface="Nimbus Sans"/>
              </a:defRPr>
            </a:pPr>
            <a:r>
              <a:rPr sz="2100" b="1">
                <a:solidFill>
                  <a:srgbClr val="FFFFFF"/>
                </a:solidFill>
                <a:latin typeface="Nimbus Sans"/>
                <a:ea typeface="Nimbus Sans"/>
                <a:cs typeface="Nimbus Sans"/>
              </a:rPr>
              <a:t>Begin the Escalation</a:t>
            </a:r>
          </a:p>
        </p:txBody>
      </p:sp>
      <p:sp>
        <p:nvSpPr>
          <p:cNvPr id="10" name="">
            <a:extLst xmlns:a="http://schemas.openxmlformats.org/drawingml/2006/main">
              <a:ext uri="{FF2B5EF4-FFF2-40B4-BE49-F238E27FC236}">
                <a16:creationId xmlns:a16="http://schemas.microsoft.com/office/drawing/2014/main" id="{E4592F7E-DA95-4E93-934A-49281F5EABCE}"/>
              </a:ext>
            </a:extLst>
          </p:cNvPr>
          <p:cNvSpPr>
            <a:spLocks xmlns:a="http://schemas.openxmlformats.org/drawingml/2006/main" noGrp="1"/>
          </p:cNvSpPr>
          <p:nvPr/>
        </p:nvSpPr>
        <p:spPr>
          <a:xfrm xmlns:a="http://schemas.openxmlformats.org/drawingml/2006/main">
            <a:off x="4705350" y="4019550"/>
            <a:ext cx="2781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Qualified responders isolate safely, alert support and cybersecurity teams, and inform local management.</a:t>
            </a:r>
          </a:p>
        </p:txBody>
      </p:sp>
      <p:sp>
        <p:nvSpPr>
          <p:cNvPr id="11" name="">
            <a:extLst xmlns:a="http://schemas.openxmlformats.org/drawingml/2006/main">
              <a:ext uri="{FF2B5EF4-FFF2-40B4-BE49-F238E27FC236}">
                <a16:creationId xmlns:a16="http://schemas.microsoft.com/office/drawing/2014/main" id="{8B4D614C-E8A8-489F-B939-2D69F0C064EB}"/>
              </a:ext>
            </a:extLst>
          </p:cNvPr>
          <p:cNvSpPr>
            <a:spLocks xmlns:a="http://schemas.openxmlformats.org/drawingml/2006/main" noGrp="1"/>
          </p:cNvSpPr>
          <p:nvPr/>
        </p:nvSpPr>
        <p:spPr>
          <a:xfrm xmlns:a="http://schemas.openxmlformats.org/drawingml/2006/main">
            <a:off x="8153400" y="2247900"/>
            <a:ext cx="3352800" cy="2990850"/>
          </a:xfrm>
          <a:prstGeom xmlns:a="http://schemas.openxmlformats.org/drawingml/2006/main" prst="roundRect">
            <a:avLst>
              <a:gd name="adj" fmla="val 2548"/>
            </a:avLst>
          </a:prstGeom>
          <a:solidFill xmlns:a="http://schemas.openxmlformats.org/drawingml/2006/main">
            <a:srgbClr val="07194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8664A83-0B72-42A6-BBC2-20BBAD2EA897}"/>
              </a:ext>
            </a:extLst>
          </p:cNvPr>
          <p:cNvSpPr>
            <a:spLocks xmlns:a="http://schemas.openxmlformats.org/drawingml/2006/main" noGrp="1"/>
          </p:cNvSpPr>
          <p:nvPr/>
        </p:nvSpPr>
        <p:spPr>
          <a:xfrm xmlns:a="http://schemas.openxmlformats.org/drawingml/2006/main">
            <a:off x="8439150" y="2476500"/>
            <a:ext cx="60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350" b="1">
                <a:solidFill>
                  <a:srgbClr val="00CFE1"/>
                </a:solidFill>
                <a:latin typeface="Nimbus Sans"/>
                <a:ea typeface="Nimbus Sans"/>
                <a:cs typeface="Nimbus Sans"/>
              </a:defRPr>
            </a:pPr>
            <a:r>
              <a:rPr sz="4350" b="1">
                <a:solidFill>
                  <a:srgbClr val="00CFE1"/>
                </a:solidFill>
                <a:latin typeface="Nimbus Sans"/>
                <a:ea typeface="Nimbus Sans"/>
                <a:cs typeface="Nimbus Sans"/>
              </a:rPr>
              <a:t>C</a:t>
            </a:r>
          </a:p>
        </p:txBody>
      </p:sp>
      <p:sp>
        <p:nvSpPr>
          <p:cNvPr id="13" name="">
            <a:extLst xmlns:a="http://schemas.openxmlformats.org/drawingml/2006/main">
              <a:ext uri="{FF2B5EF4-FFF2-40B4-BE49-F238E27FC236}">
                <a16:creationId xmlns:a16="http://schemas.microsoft.com/office/drawing/2014/main" id="{172988A0-B49B-4A8A-BF62-516AE2C91865}"/>
              </a:ext>
            </a:extLst>
          </p:cNvPr>
          <p:cNvSpPr>
            <a:spLocks xmlns:a="http://schemas.openxmlformats.org/drawingml/2006/main" noGrp="1"/>
          </p:cNvSpPr>
          <p:nvPr/>
        </p:nvSpPr>
        <p:spPr>
          <a:xfrm xmlns:a="http://schemas.openxmlformats.org/drawingml/2006/main">
            <a:off x="8439150" y="32575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Nimbus Sans"/>
                <a:ea typeface="Nimbus Sans"/>
                <a:cs typeface="Nimbus Sans"/>
              </a:defRPr>
            </a:pPr>
            <a:r>
              <a:rPr sz="2100" b="1">
                <a:solidFill>
                  <a:srgbClr val="FFFFFF"/>
                </a:solidFill>
                <a:latin typeface="Nimbus Sans"/>
                <a:ea typeface="Nimbus Sans"/>
                <a:cs typeface="Nimbus Sans"/>
              </a:rPr>
              <a:t>Continue the Operation</a:t>
            </a:r>
          </a:p>
        </p:txBody>
      </p:sp>
      <p:sp>
        <p:nvSpPr>
          <p:cNvPr id="14" name="">
            <a:extLst xmlns:a="http://schemas.openxmlformats.org/drawingml/2006/main">
              <a:ext uri="{FF2B5EF4-FFF2-40B4-BE49-F238E27FC236}">
                <a16:creationId xmlns:a16="http://schemas.microsoft.com/office/drawing/2014/main" id="{FF5C076B-2885-4C02-A317-41FE9C78F308}"/>
              </a:ext>
            </a:extLst>
          </p:cNvPr>
          <p:cNvSpPr>
            <a:spLocks xmlns:a="http://schemas.openxmlformats.org/drawingml/2006/main" noGrp="1"/>
          </p:cNvSpPr>
          <p:nvPr/>
        </p:nvSpPr>
        <p:spPr>
          <a:xfrm xmlns:a="http://schemas.openxmlformats.org/drawingml/2006/main">
            <a:off x="8439150" y="4019550"/>
            <a:ext cx="2781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The Terminal Manager or Site Director leads crisis management and business continuity decisions.</a:t>
            </a:r>
          </a:p>
        </p:txBody>
      </p:sp>
      <p:sp>
        <p:nvSpPr>
          <p:cNvPr id="15" name="">
            <a:extLst xmlns:a="http://schemas.openxmlformats.org/drawingml/2006/main">
              <a:ext uri="{FF2B5EF4-FFF2-40B4-BE49-F238E27FC236}">
                <a16:creationId xmlns:a16="http://schemas.microsoft.com/office/drawing/2014/main" id="{4A6570E4-89CD-4654-9D25-F43A097C5F0E}"/>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4E65A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9E0B3FA-A3AB-4677-ACB8-642E049C2152}"/>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D7E0FF"/>
                </a:solidFill>
                <a:latin typeface="Nimbus Sans"/>
                <a:ea typeface="Nimbus Sans"/>
                <a:cs typeface="Nimbus Sans"/>
              </a:defRPr>
            </a:pPr>
            <a:r>
              <a:rPr sz="1050" b="0">
                <a:solidFill>
                  <a:srgbClr val="D7E0FF"/>
                </a:solidFill>
                <a:latin typeface="Nimbus Sans"/>
                <a:ea typeface="Nimbus Sans"/>
                <a:cs typeface="Nimbus Sans"/>
              </a:rPr>
              <a:t>Vopak GIT CIS Guideline, section 3 and Appendix A</a:t>
            </a:r>
          </a:p>
        </p:txBody>
      </p:sp>
      <p:sp>
        <p:nvSpPr>
          <p:cNvPr id="17" name="">
            <a:extLst xmlns:a="http://schemas.openxmlformats.org/drawingml/2006/main">
              <a:ext uri="{FF2B5EF4-FFF2-40B4-BE49-F238E27FC236}">
                <a16:creationId xmlns:a16="http://schemas.microsoft.com/office/drawing/2014/main" id="{BE37BFBA-40C9-431F-9BB9-39941E083C81}"/>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0CFE1"/>
                </a:solidFill>
                <a:latin typeface="Nimbus Sans"/>
                <a:ea typeface="Nimbus Sans"/>
                <a:cs typeface="Nimbus Sans"/>
              </a:defRPr>
            </a:pPr>
            <a:r>
              <a:rPr sz="1125" b="1">
                <a:solidFill>
                  <a:srgbClr val="00CFE1"/>
                </a:solidFill>
                <a:latin typeface="Nimbus Sans"/>
                <a:ea typeface="Nimbus Sans"/>
                <a:cs typeface="Nimbus Sans"/>
              </a:rPr>
              <a:t>06</a:t>
            </a:r>
          </a:p>
        </p:txBody>
      </p:sp>
    </p:spTree>
    <p:extLst>
      <p:ext uri="{BB962C8B-B14F-4D97-AF65-F5344CB8AC3E}">
        <p14:creationId xmlns:p14="http://schemas.microsoft.com/office/powerpoint/2010/main" val="18314375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5ba34709acd4e9a"/>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491AAF-F815-4431-B1AB-EEF45950BE6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4881DA-3799-48C8-9199-1F80C67321C3}"/>
              </a:ext>
            </a:extLst>
          </p:cNvPr>
          <p:cNvSpPr>
            <a:spLocks xmlns:a="http://schemas.openxmlformats.org/drawingml/2006/main" noGrp="1"/>
          </p:cNvSpPr>
          <p:nvPr/>
        </p:nvSpPr>
        <p:spPr>
          <a:xfrm xmlns:a="http://schemas.openxmlformats.org/drawingml/2006/main">
            <a:off x="685800" y="1066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0A2373"/>
                </a:solidFill>
                <a:latin typeface="Nimbus Sans"/>
                <a:ea typeface="Nimbus Sans"/>
                <a:cs typeface="Nimbus Sans"/>
              </a:defRPr>
            </a:pPr>
            <a:r>
              <a:rPr sz="3450" b="1">
                <a:solidFill>
                  <a:srgbClr val="0A2373"/>
                </a:solidFill>
                <a:latin typeface="Nimbus Sans"/>
                <a:ea typeface="Nimbus Sans"/>
                <a:cs typeface="Nimbus Sans"/>
              </a:rPr>
              <a:t>Information responders need during triage</a:t>
            </a:r>
          </a:p>
        </p:txBody>
      </p:sp>
      <p:sp>
        <p:nvSpPr>
          <p:cNvPr id="4" name="">
            <a:extLst xmlns:a="http://schemas.openxmlformats.org/drawingml/2006/main">
              <a:ext uri="{FF2B5EF4-FFF2-40B4-BE49-F238E27FC236}">
                <a16:creationId xmlns:a16="http://schemas.microsoft.com/office/drawing/2014/main" id="{7F1B4650-AD38-488C-90B4-0D7180C6FB07}"/>
              </a:ext>
            </a:extLst>
          </p:cNvPr>
          <p:cNvSpPr>
            <a:spLocks xmlns:a="http://schemas.openxmlformats.org/drawingml/2006/main" noGrp="1"/>
          </p:cNvSpPr>
          <p:nvPr/>
        </p:nvSpPr>
        <p:spPr>
          <a:xfrm xmlns:a="http://schemas.openxmlformats.org/drawingml/2006/main">
            <a:off x="876300" y="18097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83CE1"/>
                </a:solidFill>
                <a:latin typeface="Nimbus Sans"/>
                <a:ea typeface="Nimbus Sans"/>
                <a:cs typeface="Nimbus Sans"/>
              </a:defRPr>
            </a:pPr>
            <a:r>
              <a:rPr sz="1800" b="1">
                <a:solidFill>
                  <a:srgbClr val="283CE1"/>
                </a:solidFill>
                <a:latin typeface="Nimbus Sans"/>
                <a:ea typeface="Nimbus Sans"/>
                <a:cs typeface="Nimbus Sans"/>
              </a:rPr>
              <a:t>Who</a:t>
            </a:r>
          </a:p>
        </p:txBody>
      </p:sp>
      <p:sp>
        <p:nvSpPr>
          <p:cNvPr id="5" name="">
            <a:extLst xmlns:a="http://schemas.openxmlformats.org/drawingml/2006/main">
              <a:ext uri="{FF2B5EF4-FFF2-40B4-BE49-F238E27FC236}">
                <a16:creationId xmlns:a16="http://schemas.microsoft.com/office/drawing/2014/main" id="{A402B625-0401-44A4-A327-B36F2B7B9F0E}"/>
              </a:ext>
            </a:extLst>
          </p:cNvPr>
          <p:cNvSpPr>
            <a:spLocks xmlns:a="http://schemas.openxmlformats.org/drawingml/2006/main" noGrp="1"/>
          </p:cNvSpPr>
          <p:nvPr/>
        </p:nvSpPr>
        <p:spPr>
          <a:xfrm xmlns:a="http://schemas.openxmlformats.org/drawingml/2006/main">
            <a:off x="2133600" y="180975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Who detected the event and who assessed it</a:t>
            </a:r>
          </a:p>
        </p:txBody>
      </p:sp>
      <p:sp>
        <p:nvSpPr>
          <p:cNvPr id="6" name="">
            <a:extLst xmlns:a="http://schemas.openxmlformats.org/drawingml/2006/main">
              <a:ext uri="{FF2B5EF4-FFF2-40B4-BE49-F238E27FC236}">
                <a16:creationId xmlns:a16="http://schemas.microsoft.com/office/drawing/2014/main" id="{841A617B-F110-4C9F-952D-502A99BB274B}"/>
              </a:ext>
            </a:extLst>
          </p:cNvPr>
          <p:cNvSpPr>
            <a:spLocks xmlns:a="http://schemas.openxmlformats.org/drawingml/2006/main" noGrp="1"/>
          </p:cNvSpPr>
          <p:nvPr/>
        </p:nvSpPr>
        <p:spPr>
          <a:xfrm xmlns:a="http://schemas.openxmlformats.org/drawingml/2006/main">
            <a:off x="876300" y="2686050"/>
            <a:ext cx="476250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693FFA-668C-4FC2-BE38-DBC382C6D8C9}"/>
              </a:ext>
            </a:extLst>
          </p:cNvPr>
          <p:cNvSpPr>
            <a:spLocks xmlns:a="http://schemas.openxmlformats.org/drawingml/2006/main" noGrp="1"/>
          </p:cNvSpPr>
          <p:nvPr/>
        </p:nvSpPr>
        <p:spPr>
          <a:xfrm xmlns:a="http://schemas.openxmlformats.org/drawingml/2006/main">
            <a:off x="6210300" y="18097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83CE1"/>
                </a:solidFill>
                <a:latin typeface="Nimbus Sans"/>
                <a:ea typeface="Nimbus Sans"/>
                <a:cs typeface="Nimbus Sans"/>
              </a:defRPr>
            </a:pPr>
            <a:r>
              <a:rPr sz="1800" b="1">
                <a:solidFill>
                  <a:srgbClr val="283CE1"/>
                </a:solidFill>
                <a:latin typeface="Nimbus Sans"/>
                <a:ea typeface="Nimbus Sans"/>
                <a:cs typeface="Nimbus Sans"/>
              </a:rPr>
              <a:t>When</a:t>
            </a:r>
          </a:p>
        </p:txBody>
      </p:sp>
      <p:sp>
        <p:nvSpPr>
          <p:cNvPr id="8" name="">
            <a:extLst xmlns:a="http://schemas.openxmlformats.org/drawingml/2006/main">
              <a:ext uri="{FF2B5EF4-FFF2-40B4-BE49-F238E27FC236}">
                <a16:creationId xmlns:a16="http://schemas.microsoft.com/office/drawing/2014/main" id="{C8CF448B-080E-4A2E-8B59-74F10DD492DC}"/>
              </a:ext>
            </a:extLst>
          </p:cNvPr>
          <p:cNvSpPr>
            <a:spLocks xmlns:a="http://schemas.openxmlformats.org/drawingml/2006/main" noGrp="1"/>
          </p:cNvSpPr>
          <p:nvPr/>
        </p:nvSpPr>
        <p:spPr>
          <a:xfrm xmlns:a="http://schemas.openxmlformats.org/drawingml/2006/main">
            <a:off x="7467600" y="180975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When the suspicious activity began and when it was reported</a:t>
            </a:r>
          </a:p>
        </p:txBody>
      </p:sp>
      <p:sp>
        <p:nvSpPr>
          <p:cNvPr id="9" name="">
            <a:extLst xmlns:a="http://schemas.openxmlformats.org/drawingml/2006/main">
              <a:ext uri="{FF2B5EF4-FFF2-40B4-BE49-F238E27FC236}">
                <a16:creationId xmlns:a16="http://schemas.microsoft.com/office/drawing/2014/main" id="{D3C4AD1E-8D1A-4FE4-903A-8C40E1CF8965}"/>
              </a:ext>
            </a:extLst>
          </p:cNvPr>
          <p:cNvSpPr>
            <a:spLocks xmlns:a="http://schemas.openxmlformats.org/drawingml/2006/main" noGrp="1"/>
          </p:cNvSpPr>
          <p:nvPr/>
        </p:nvSpPr>
        <p:spPr>
          <a:xfrm xmlns:a="http://schemas.openxmlformats.org/drawingml/2006/main">
            <a:off x="6210300" y="2686050"/>
            <a:ext cx="476250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76D8AC5-9A2A-44D0-84CC-7CB83AF8D15F}"/>
              </a:ext>
            </a:extLst>
          </p:cNvPr>
          <p:cNvSpPr>
            <a:spLocks xmlns:a="http://schemas.openxmlformats.org/drawingml/2006/main" noGrp="1"/>
          </p:cNvSpPr>
          <p:nvPr/>
        </p:nvSpPr>
        <p:spPr>
          <a:xfrm xmlns:a="http://schemas.openxmlformats.org/drawingml/2006/main">
            <a:off x="876300" y="30670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83CE1"/>
                </a:solidFill>
                <a:latin typeface="Nimbus Sans"/>
                <a:ea typeface="Nimbus Sans"/>
                <a:cs typeface="Nimbus Sans"/>
              </a:defRPr>
            </a:pPr>
            <a:r>
              <a:rPr sz="1800" b="1">
                <a:solidFill>
                  <a:srgbClr val="283CE1"/>
                </a:solidFill>
                <a:latin typeface="Nimbus Sans"/>
                <a:ea typeface="Nimbus Sans"/>
                <a:cs typeface="Nimbus Sans"/>
              </a:rPr>
              <a:t>Where</a:t>
            </a:r>
          </a:p>
        </p:txBody>
      </p:sp>
      <p:sp>
        <p:nvSpPr>
          <p:cNvPr id="11" name="">
            <a:extLst xmlns:a="http://schemas.openxmlformats.org/drawingml/2006/main">
              <a:ext uri="{FF2B5EF4-FFF2-40B4-BE49-F238E27FC236}">
                <a16:creationId xmlns:a16="http://schemas.microsoft.com/office/drawing/2014/main" id="{71C39582-ACB1-4DB9-A98B-72EF1BD9F81F}"/>
              </a:ext>
            </a:extLst>
          </p:cNvPr>
          <p:cNvSpPr>
            <a:spLocks xmlns:a="http://schemas.openxmlformats.org/drawingml/2006/main" noGrp="1"/>
          </p:cNvSpPr>
          <p:nvPr/>
        </p:nvSpPr>
        <p:spPr>
          <a:xfrm xmlns:a="http://schemas.openxmlformats.org/drawingml/2006/main">
            <a:off x="2133600" y="306705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Device name, system function, user account, and affected area</a:t>
            </a:r>
          </a:p>
        </p:txBody>
      </p:sp>
      <p:sp>
        <p:nvSpPr>
          <p:cNvPr id="12" name="">
            <a:extLst xmlns:a="http://schemas.openxmlformats.org/drawingml/2006/main">
              <a:ext uri="{FF2B5EF4-FFF2-40B4-BE49-F238E27FC236}">
                <a16:creationId xmlns:a16="http://schemas.microsoft.com/office/drawing/2014/main" id="{4A232F00-D147-4913-9B4F-26F23E0A4346}"/>
              </a:ext>
            </a:extLst>
          </p:cNvPr>
          <p:cNvSpPr>
            <a:spLocks xmlns:a="http://schemas.openxmlformats.org/drawingml/2006/main" noGrp="1"/>
          </p:cNvSpPr>
          <p:nvPr/>
        </p:nvSpPr>
        <p:spPr>
          <a:xfrm xmlns:a="http://schemas.openxmlformats.org/drawingml/2006/main">
            <a:off x="876300" y="3943350"/>
            <a:ext cx="476250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B6D9D5-1E93-4FD5-8790-5C2185D02E33}"/>
              </a:ext>
            </a:extLst>
          </p:cNvPr>
          <p:cNvSpPr>
            <a:spLocks xmlns:a="http://schemas.openxmlformats.org/drawingml/2006/main" noGrp="1"/>
          </p:cNvSpPr>
          <p:nvPr/>
        </p:nvSpPr>
        <p:spPr>
          <a:xfrm xmlns:a="http://schemas.openxmlformats.org/drawingml/2006/main">
            <a:off x="6210300" y="30670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83CE1"/>
                </a:solidFill>
                <a:latin typeface="Nimbus Sans"/>
                <a:ea typeface="Nimbus Sans"/>
                <a:cs typeface="Nimbus Sans"/>
              </a:defRPr>
            </a:pPr>
            <a:r>
              <a:rPr sz="1800" b="1">
                <a:solidFill>
                  <a:srgbClr val="283CE1"/>
                </a:solidFill>
                <a:latin typeface="Nimbus Sans"/>
                <a:ea typeface="Nimbus Sans"/>
                <a:cs typeface="Nimbus Sans"/>
              </a:rPr>
              <a:t>What</a:t>
            </a:r>
          </a:p>
        </p:txBody>
      </p:sp>
      <p:sp>
        <p:nvSpPr>
          <p:cNvPr id="14" name="">
            <a:extLst xmlns:a="http://schemas.openxmlformats.org/drawingml/2006/main">
              <a:ext uri="{FF2B5EF4-FFF2-40B4-BE49-F238E27FC236}">
                <a16:creationId xmlns:a16="http://schemas.microsoft.com/office/drawing/2014/main" id="{54562F57-729B-4784-AED5-CB1CB447A251}"/>
              </a:ext>
            </a:extLst>
          </p:cNvPr>
          <p:cNvSpPr>
            <a:spLocks xmlns:a="http://schemas.openxmlformats.org/drawingml/2006/main" noGrp="1"/>
          </p:cNvSpPr>
          <p:nvPr/>
        </p:nvSpPr>
        <p:spPr>
          <a:xfrm xmlns:a="http://schemas.openxmlformats.org/drawingml/2006/main">
            <a:off x="7467600" y="306705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What the user observed and what they were doing immediately before it</a:t>
            </a:r>
          </a:p>
        </p:txBody>
      </p:sp>
      <p:sp>
        <p:nvSpPr>
          <p:cNvPr id="15" name="">
            <a:extLst xmlns:a="http://schemas.openxmlformats.org/drawingml/2006/main">
              <a:ext uri="{FF2B5EF4-FFF2-40B4-BE49-F238E27FC236}">
                <a16:creationId xmlns:a16="http://schemas.microsoft.com/office/drawing/2014/main" id="{B8441F4B-9C33-42FA-A1F2-ADC9FB5D96F1}"/>
              </a:ext>
            </a:extLst>
          </p:cNvPr>
          <p:cNvSpPr>
            <a:spLocks xmlns:a="http://schemas.openxmlformats.org/drawingml/2006/main" noGrp="1"/>
          </p:cNvSpPr>
          <p:nvPr/>
        </p:nvSpPr>
        <p:spPr>
          <a:xfrm xmlns:a="http://schemas.openxmlformats.org/drawingml/2006/main">
            <a:off x="6210300" y="3943350"/>
            <a:ext cx="476250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1CC7080-5835-469E-826B-E63FE96272CD}"/>
              </a:ext>
            </a:extLst>
          </p:cNvPr>
          <p:cNvSpPr>
            <a:spLocks xmlns:a="http://schemas.openxmlformats.org/drawingml/2006/main" noGrp="1"/>
          </p:cNvSpPr>
          <p:nvPr/>
        </p:nvSpPr>
        <p:spPr>
          <a:xfrm xmlns:a="http://schemas.openxmlformats.org/drawingml/2006/main">
            <a:off x="876300" y="4324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83CE1"/>
                </a:solidFill>
                <a:latin typeface="Nimbus Sans"/>
                <a:ea typeface="Nimbus Sans"/>
                <a:cs typeface="Nimbus Sans"/>
              </a:defRPr>
            </a:pPr>
            <a:r>
              <a:rPr sz="1800" b="1">
                <a:solidFill>
                  <a:srgbClr val="283CE1"/>
                </a:solidFill>
                <a:latin typeface="Nimbus Sans"/>
                <a:ea typeface="Nimbus Sans"/>
                <a:cs typeface="Nimbus Sans"/>
              </a:rPr>
              <a:t>Interaction</a:t>
            </a:r>
          </a:p>
        </p:txBody>
      </p:sp>
      <p:sp>
        <p:nvSpPr>
          <p:cNvPr id="17" name="">
            <a:extLst xmlns:a="http://schemas.openxmlformats.org/drawingml/2006/main">
              <a:ext uri="{FF2B5EF4-FFF2-40B4-BE49-F238E27FC236}">
                <a16:creationId xmlns:a16="http://schemas.microsoft.com/office/drawing/2014/main" id="{28581983-EF4C-4918-B0E0-377081A960DE}"/>
              </a:ext>
            </a:extLst>
          </p:cNvPr>
          <p:cNvSpPr>
            <a:spLocks xmlns:a="http://schemas.openxmlformats.org/drawingml/2006/main" noGrp="1"/>
          </p:cNvSpPr>
          <p:nvPr/>
        </p:nvSpPr>
        <p:spPr>
          <a:xfrm xmlns:a="http://schemas.openxmlformats.org/drawingml/2006/main">
            <a:off x="2133600" y="432435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Whether a link, attachment, QR code, or credential prompt was used</a:t>
            </a:r>
          </a:p>
        </p:txBody>
      </p:sp>
      <p:sp>
        <p:nvSpPr>
          <p:cNvPr id="18" name="">
            <a:extLst xmlns:a="http://schemas.openxmlformats.org/drawingml/2006/main">
              <a:ext uri="{FF2B5EF4-FFF2-40B4-BE49-F238E27FC236}">
                <a16:creationId xmlns:a16="http://schemas.microsoft.com/office/drawing/2014/main" id="{7E411295-1976-4CA1-8C23-A1C029FC2A36}"/>
              </a:ext>
            </a:extLst>
          </p:cNvPr>
          <p:cNvSpPr>
            <a:spLocks xmlns:a="http://schemas.openxmlformats.org/drawingml/2006/main" noGrp="1"/>
          </p:cNvSpPr>
          <p:nvPr/>
        </p:nvSpPr>
        <p:spPr>
          <a:xfrm xmlns:a="http://schemas.openxmlformats.org/drawingml/2006/main">
            <a:off x="876300" y="5200650"/>
            <a:ext cx="476250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0DC5B6-8D89-453F-9509-346438051E2D}"/>
              </a:ext>
            </a:extLst>
          </p:cNvPr>
          <p:cNvSpPr>
            <a:spLocks xmlns:a="http://schemas.openxmlformats.org/drawingml/2006/main" noGrp="1"/>
          </p:cNvSpPr>
          <p:nvPr/>
        </p:nvSpPr>
        <p:spPr>
          <a:xfrm xmlns:a="http://schemas.openxmlformats.org/drawingml/2006/main">
            <a:off x="6210300" y="4324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83CE1"/>
                </a:solidFill>
                <a:latin typeface="Nimbus Sans"/>
                <a:ea typeface="Nimbus Sans"/>
                <a:cs typeface="Nimbus Sans"/>
              </a:defRPr>
            </a:pPr>
            <a:r>
              <a:rPr sz="1800" b="1">
                <a:solidFill>
                  <a:srgbClr val="283CE1"/>
                </a:solidFill>
                <a:latin typeface="Nimbus Sans"/>
                <a:ea typeface="Nimbus Sans"/>
                <a:cs typeface="Nimbus Sans"/>
              </a:rPr>
              <a:t>Impact</a:t>
            </a:r>
          </a:p>
        </p:txBody>
      </p:sp>
      <p:sp>
        <p:nvSpPr>
          <p:cNvPr id="20" name="">
            <a:extLst xmlns:a="http://schemas.openxmlformats.org/drawingml/2006/main">
              <a:ext uri="{FF2B5EF4-FFF2-40B4-BE49-F238E27FC236}">
                <a16:creationId xmlns:a16="http://schemas.microsoft.com/office/drawing/2014/main" id="{4590522C-1965-477B-A138-BA7EA8E675EA}"/>
              </a:ext>
            </a:extLst>
          </p:cNvPr>
          <p:cNvSpPr>
            <a:spLocks xmlns:a="http://schemas.openxmlformats.org/drawingml/2006/main" noGrp="1"/>
          </p:cNvSpPr>
          <p:nvPr/>
        </p:nvSpPr>
        <p:spPr>
          <a:xfrm xmlns:a="http://schemas.openxmlformats.org/drawingml/2006/main">
            <a:off x="7467600" y="432435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01828"/>
                </a:solidFill>
                <a:latin typeface="Nimbus Sans"/>
                <a:ea typeface="Nimbus Sans"/>
                <a:cs typeface="Nimbus Sans"/>
              </a:defRPr>
            </a:pPr>
            <a:r>
              <a:rPr sz="1725" b="0">
                <a:solidFill>
                  <a:srgbClr val="101828"/>
                </a:solidFill>
                <a:latin typeface="Nimbus Sans"/>
                <a:ea typeface="Nimbus Sans"/>
                <a:cs typeface="Nimbus Sans"/>
              </a:rPr>
              <a:t>Any effect on files, access, safety, terminal operations, or customers</a:t>
            </a:r>
          </a:p>
        </p:txBody>
      </p:sp>
      <p:sp>
        <p:nvSpPr>
          <p:cNvPr id="21" name="">
            <a:extLst xmlns:a="http://schemas.openxmlformats.org/drawingml/2006/main">
              <a:ext uri="{FF2B5EF4-FFF2-40B4-BE49-F238E27FC236}">
                <a16:creationId xmlns:a16="http://schemas.microsoft.com/office/drawing/2014/main" id="{E637CFDE-C393-4774-9A6C-BABA89658812}"/>
              </a:ext>
            </a:extLst>
          </p:cNvPr>
          <p:cNvSpPr>
            <a:spLocks xmlns:a="http://schemas.openxmlformats.org/drawingml/2006/main" noGrp="1"/>
          </p:cNvSpPr>
          <p:nvPr/>
        </p:nvSpPr>
        <p:spPr>
          <a:xfrm xmlns:a="http://schemas.openxmlformats.org/drawingml/2006/main">
            <a:off x="6210300" y="5200650"/>
            <a:ext cx="4762500" cy="9525"/>
          </a:xfrm>
          <a:prstGeom xmlns:a="http://schemas.openxmlformats.org/drawingml/2006/main" prst="rect">
            <a:avLst/>
          </a:prstGeom>
          <a:solidFill xmlns:a="http://schemas.openxmlformats.org/drawingml/2006/main">
            <a:srgbClr val="E1E1E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435BB6F-C8F2-4379-A2FD-B0C7870344CC}"/>
              </a:ext>
            </a:extLst>
          </p:cNvPr>
          <p:cNvSpPr>
            <a:spLocks xmlns:a="http://schemas.openxmlformats.org/drawingml/2006/main" noGrp="1"/>
          </p:cNvSpPr>
          <p:nvPr/>
        </p:nvSpPr>
        <p:spPr>
          <a:xfrm xmlns:a="http://schemas.openxmlformats.org/drawingml/2006/main">
            <a:off x="876300" y="56197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a:solidFill>
                  <a:srgbClr val="0A2373"/>
                </a:solidFill>
                <a:latin typeface="Nimbus Sans"/>
                <a:ea typeface="Nimbus Sans"/>
                <a:cs typeface="Nimbus Sans"/>
              </a:defRPr>
            </a:pPr>
            <a:r>
              <a:rPr sz="1650" b="1">
                <a:solidFill>
                  <a:srgbClr val="0A2373"/>
                </a:solidFill>
                <a:latin typeface="Nimbus Sans"/>
                <a:ea typeface="Nimbus Sans"/>
                <a:cs typeface="Nimbus Sans"/>
              </a:rPr>
              <a:t>Report what you know. State what remains uncertain. Do not wait for a complete diagnosis before escalating a credible attack.</a:t>
            </a:r>
          </a:p>
        </p:txBody>
      </p:sp>
      <p:sp>
        <p:nvSpPr>
          <p:cNvPr id="23" name="">
            <a:extLst xmlns:a="http://schemas.openxmlformats.org/drawingml/2006/main">
              <a:ext uri="{FF2B5EF4-FFF2-40B4-BE49-F238E27FC236}">
                <a16:creationId xmlns:a16="http://schemas.microsoft.com/office/drawing/2014/main" id="{98B30D71-0D47-4C31-A2D8-04B2095D41F0}"/>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20DFCDE-A717-4988-8FF5-1F06DED5C872}"/>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Vopak GIT CIS Guideline, Appendix B</a:t>
            </a:r>
          </a:p>
        </p:txBody>
      </p:sp>
      <p:sp>
        <p:nvSpPr>
          <p:cNvPr id="25" name="">
            <a:extLst xmlns:a="http://schemas.openxmlformats.org/drawingml/2006/main">
              <a:ext uri="{FF2B5EF4-FFF2-40B4-BE49-F238E27FC236}">
                <a16:creationId xmlns:a16="http://schemas.microsoft.com/office/drawing/2014/main" id="{F11A658D-FE20-4F60-A942-79A19F62FE7E}"/>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07</a:t>
            </a:r>
          </a:p>
        </p:txBody>
      </p:sp>
    </p:spTree>
    <p:extLst>
      <p:ext uri="{BB962C8B-B14F-4D97-AF65-F5344CB8AC3E}">
        <p14:creationId xmlns:p14="http://schemas.microsoft.com/office/powerpoint/2010/main" val="18310869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0036d395f234052"/>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657BB2-0086-4C0C-BACB-F3800C7AB22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8B427E-0A45-4D9F-829C-FCA3934B83C4}"/>
              </a:ext>
            </a:extLst>
          </p:cNvPr>
          <p:cNvSpPr>
            <a:spLocks xmlns:a="http://schemas.openxmlformats.org/drawingml/2006/main" noGrp="1"/>
          </p:cNvSpPr>
          <p:nvPr/>
        </p:nvSpPr>
        <p:spPr>
          <a:xfrm xmlns:a="http://schemas.openxmlformats.org/drawingml/2006/main">
            <a:off x="685800" y="1066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0A2373"/>
                </a:solidFill>
                <a:latin typeface="Nimbus Sans"/>
                <a:ea typeface="Nimbus Sans"/>
                <a:cs typeface="Nimbus Sans"/>
              </a:defRPr>
            </a:pPr>
            <a:r>
              <a:rPr sz="3450" b="1">
                <a:solidFill>
                  <a:srgbClr val="0A2373"/>
                </a:solidFill>
                <a:latin typeface="Nimbus Sans"/>
                <a:ea typeface="Nimbus Sans"/>
                <a:cs typeface="Nimbus Sans"/>
              </a:rPr>
              <a:t>IT and OT response boundaries</a:t>
            </a:r>
          </a:p>
        </p:txBody>
      </p:sp>
      <p:sp>
        <p:nvSpPr>
          <p:cNvPr id="4" name="">
            <a:extLst xmlns:a="http://schemas.openxmlformats.org/drawingml/2006/main">
              <a:ext uri="{FF2B5EF4-FFF2-40B4-BE49-F238E27FC236}">
                <a16:creationId xmlns:a16="http://schemas.microsoft.com/office/drawing/2014/main" id="{A1C8ACAC-F393-48BC-B0EB-A723871BD08F}"/>
              </a:ext>
            </a:extLst>
          </p:cNvPr>
          <p:cNvSpPr>
            <a:spLocks xmlns:a="http://schemas.openxmlformats.org/drawingml/2006/main" noGrp="1"/>
          </p:cNvSpPr>
          <p:nvPr/>
        </p:nvSpPr>
        <p:spPr>
          <a:xfrm xmlns:a="http://schemas.openxmlformats.org/drawingml/2006/main">
            <a:off x="685800" y="1771650"/>
            <a:ext cx="3200400" cy="3238500"/>
          </a:xfrm>
          <a:prstGeom xmlns:a="http://schemas.openxmlformats.org/drawingml/2006/main" prst="roundRect">
            <a:avLst>
              <a:gd name="adj" fmla="val 2381"/>
            </a:avLst>
          </a:prstGeom>
          <a:solidFill xmlns:a="http://schemas.openxmlformats.org/drawingml/2006/main">
            <a:srgbClr val="F4F7F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95676E-BBF8-4C4B-BE8A-E993FB8C32AF}"/>
              </a:ext>
            </a:extLst>
          </p:cNvPr>
          <p:cNvSpPr>
            <a:spLocks xmlns:a="http://schemas.openxmlformats.org/drawingml/2006/main" noGrp="1"/>
          </p:cNvSpPr>
          <p:nvPr/>
        </p:nvSpPr>
        <p:spPr>
          <a:xfrm xmlns:a="http://schemas.openxmlformats.org/drawingml/2006/main">
            <a:off x="685800" y="1771650"/>
            <a:ext cx="3200400" cy="95250"/>
          </a:xfrm>
          <a:prstGeom xmlns:a="http://schemas.openxmlformats.org/drawingml/2006/main" prst="rect">
            <a:avLst/>
          </a:prstGeom>
          <a:solidFill xmlns:a="http://schemas.openxmlformats.org/drawingml/2006/main">
            <a:srgbClr val="0A237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5010AF-2BE1-4A14-84CD-7BFEED91C889}"/>
              </a:ext>
            </a:extLst>
          </p:cNvPr>
          <p:cNvSpPr>
            <a:spLocks xmlns:a="http://schemas.openxmlformats.org/drawingml/2006/main" noGrp="1"/>
          </p:cNvSpPr>
          <p:nvPr/>
        </p:nvSpPr>
        <p:spPr>
          <a:xfrm xmlns:a="http://schemas.openxmlformats.org/drawingml/2006/main">
            <a:off x="914400" y="2133600"/>
            <a:ext cx="2743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A2373"/>
                </a:solidFill>
                <a:latin typeface="Nimbus Sans"/>
                <a:ea typeface="Nimbus Sans"/>
                <a:cs typeface="Nimbus Sans"/>
              </a:defRPr>
            </a:pPr>
            <a:r>
              <a:rPr sz="2025" b="1">
                <a:solidFill>
                  <a:srgbClr val="0A2373"/>
                </a:solidFill>
                <a:latin typeface="Nimbus Sans"/>
                <a:ea typeface="Nimbus Sans"/>
                <a:cs typeface="Nimbus Sans"/>
              </a:rPr>
              <a:t>Employee or operator</a:t>
            </a:r>
          </a:p>
        </p:txBody>
      </p:sp>
      <p:sp>
        <p:nvSpPr>
          <p:cNvPr id="7" name="">
            <a:extLst xmlns:a="http://schemas.openxmlformats.org/drawingml/2006/main">
              <a:ext uri="{FF2B5EF4-FFF2-40B4-BE49-F238E27FC236}">
                <a16:creationId xmlns:a16="http://schemas.microsoft.com/office/drawing/2014/main" id="{75B9891B-CEA0-4352-83BF-2A7C50E250B6}"/>
              </a:ext>
            </a:extLst>
          </p:cNvPr>
          <p:cNvSpPr>
            <a:spLocks xmlns:a="http://schemas.openxmlformats.org/drawingml/2006/main" noGrp="1"/>
          </p:cNvSpPr>
          <p:nvPr/>
        </p:nvSpPr>
        <p:spPr>
          <a:xfrm xmlns:a="http://schemas.openxmlformats.org/drawingml/2006/main">
            <a:off x="914400" y="2876550"/>
            <a:ext cx="27241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Report the suspicious email with Hoxhunt</a:t>
            </a:r>
          </a:p>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Describe any interaction or symptoms</a:t>
            </a:r>
          </a:p>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Contact local IT or the OT focal point when compromise or impact is suspected</a:t>
            </a:r>
          </a:p>
        </p:txBody>
      </p:sp>
      <p:sp>
        <p:nvSpPr>
          <p:cNvPr id="8" name="">
            <a:extLst xmlns:a="http://schemas.openxmlformats.org/drawingml/2006/main">
              <a:ext uri="{FF2B5EF4-FFF2-40B4-BE49-F238E27FC236}">
                <a16:creationId xmlns:a16="http://schemas.microsoft.com/office/drawing/2014/main" id="{113C34F4-72E2-4669-AD89-67DF4051204E}"/>
              </a:ext>
            </a:extLst>
          </p:cNvPr>
          <p:cNvSpPr>
            <a:spLocks xmlns:a="http://schemas.openxmlformats.org/drawingml/2006/main" noGrp="1"/>
          </p:cNvSpPr>
          <p:nvPr/>
        </p:nvSpPr>
        <p:spPr>
          <a:xfrm xmlns:a="http://schemas.openxmlformats.org/drawingml/2006/main">
            <a:off x="4248150" y="1771650"/>
            <a:ext cx="3200400" cy="3238500"/>
          </a:xfrm>
          <a:prstGeom xmlns:a="http://schemas.openxmlformats.org/drawingml/2006/main" prst="roundRect">
            <a:avLst>
              <a:gd name="adj" fmla="val 2381"/>
            </a:avLst>
          </a:prstGeom>
          <a:solidFill xmlns:a="http://schemas.openxmlformats.org/drawingml/2006/main">
            <a:srgbClr val="F4F7F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CC1ADA-7663-460E-87CC-01F9840DC137}"/>
              </a:ext>
            </a:extLst>
          </p:cNvPr>
          <p:cNvSpPr>
            <a:spLocks xmlns:a="http://schemas.openxmlformats.org/drawingml/2006/main" noGrp="1"/>
          </p:cNvSpPr>
          <p:nvPr/>
        </p:nvSpPr>
        <p:spPr>
          <a:xfrm xmlns:a="http://schemas.openxmlformats.org/drawingml/2006/main">
            <a:off x="4248150" y="1771650"/>
            <a:ext cx="3200400" cy="95250"/>
          </a:xfrm>
          <a:prstGeom xmlns:a="http://schemas.openxmlformats.org/drawingml/2006/main" prst="rect">
            <a:avLst/>
          </a:prstGeom>
          <a:solidFill xmlns:a="http://schemas.openxmlformats.org/drawingml/2006/main">
            <a:srgbClr val="283CE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DF84F3-F94A-417C-A058-076D9CD54A75}"/>
              </a:ext>
            </a:extLst>
          </p:cNvPr>
          <p:cNvSpPr>
            <a:spLocks xmlns:a="http://schemas.openxmlformats.org/drawingml/2006/main" noGrp="1"/>
          </p:cNvSpPr>
          <p:nvPr/>
        </p:nvSpPr>
        <p:spPr>
          <a:xfrm xmlns:a="http://schemas.openxmlformats.org/drawingml/2006/main">
            <a:off x="4476750" y="2133600"/>
            <a:ext cx="2743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A2373"/>
                </a:solidFill>
                <a:latin typeface="Nimbus Sans"/>
                <a:ea typeface="Nimbus Sans"/>
                <a:cs typeface="Nimbus Sans"/>
              </a:defRPr>
            </a:pPr>
            <a:r>
              <a:rPr sz="2025" b="1">
                <a:solidFill>
                  <a:srgbClr val="0A2373"/>
                </a:solidFill>
                <a:latin typeface="Nimbus Sans"/>
                <a:ea typeface="Nimbus Sans"/>
                <a:cs typeface="Nimbus Sans"/>
              </a:rPr>
              <a:t>Local IT or OT</a:t>
            </a:r>
          </a:p>
        </p:txBody>
      </p:sp>
      <p:sp>
        <p:nvSpPr>
          <p:cNvPr id="11" name="">
            <a:extLst xmlns:a="http://schemas.openxmlformats.org/drawingml/2006/main">
              <a:ext uri="{FF2B5EF4-FFF2-40B4-BE49-F238E27FC236}">
                <a16:creationId xmlns:a16="http://schemas.microsoft.com/office/drawing/2014/main" id="{F7421704-73DE-4681-820C-BEDB11728C7C}"/>
              </a:ext>
            </a:extLst>
          </p:cNvPr>
          <p:cNvSpPr>
            <a:spLocks xmlns:a="http://schemas.openxmlformats.org/drawingml/2006/main" noGrp="1"/>
          </p:cNvSpPr>
          <p:nvPr/>
        </p:nvSpPr>
        <p:spPr>
          <a:xfrm xmlns:a="http://schemas.openxmlformats.org/drawingml/2006/main">
            <a:off x="4476750" y="2876550"/>
            <a:ext cx="27241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Gather facts and assess credibility</a:t>
            </a:r>
          </a:p>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Isolate safely when required</a:t>
            </a:r>
          </a:p>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Call GLAS for a critical cyberattack and inform local management</a:t>
            </a:r>
          </a:p>
        </p:txBody>
      </p:sp>
      <p:sp>
        <p:nvSpPr>
          <p:cNvPr id="12" name="">
            <a:extLst xmlns:a="http://schemas.openxmlformats.org/drawingml/2006/main">
              <a:ext uri="{FF2B5EF4-FFF2-40B4-BE49-F238E27FC236}">
                <a16:creationId xmlns:a16="http://schemas.microsoft.com/office/drawing/2014/main" id="{D9E85160-7663-4AE8-859D-B36A33AB5992}"/>
              </a:ext>
            </a:extLst>
          </p:cNvPr>
          <p:cNvSpPr>
            <a:spLocks xmlns:a="http://schemas.openxmlformats.org/drawingml/2006/main" noGrp="1"/>
          </p:cNvSpPr>
          <p:nvPr/>
        </p:nvSpPr>
        <p:spPr>
          <a:xfrm xmlns:a="http://schemas.openxmlformats.org/drawingml/2006/main">
            <a:off x="7810500" y="1771650"/>
            <a:ext cx="3200400" cy="3238500"/>
          </a:xfrm>
          <a:prstGeom xmlns:a="http://schemas.openxmlformats.org/drawingml/2006/main" prst="roundRect">
            <a:avLst>
              <a:gd name="adj" fmla="val 2381"/>
            </a:avLst>
          </a:prstGeom>
          <a:solidFill xmlns:a="http://schemas.openxmlformats.org/drawingml/2006/main">
            <a:srgbClr val="F4F7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596C0E-A0C1-4A53-A601-03083AF51631}"/>
              </a:ext>
            </a:extLst>
          </p:cNvPr>
          <p:cNvSpPr>
            <a:spLocks xmlns:a="http://schemas.openxmlformats.org/drawingml/2006/main" noGrp="1"/>
          </p:cNvSpPr>
          <p:nvPr/>
        </p:nvSpPr>
        <p:spPr>
          <a:xfrm xmlns:a="http://schemas.openxmlformats.org/drawingml/2006/main">
            <a:off x="7810500" y="1771650"/>
            <a:ext cx="3200400" cy="95250"/>
          </a:xfrm>
          <a:prstGeom xmlns:a="http://schemas.openxmlformats.org/drawingml/2006/main" prst="rect">
            <a:avLst/>
          </a:prstGeom>
          <a:solidFill xmlns:a="http://schemas.openxmlformats.org/drawingml/2006/main">
            <a:srgbClr val="009E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B10F1D-C1D9-42FE-956D-1AC27E01A3F5}"/>
              </a:ext>
            </a:extLst>
          </p:cNvPr>
          <p:cNvSpPr>
            <a:spLocks xmlns:a="http://schemas.openxmlformats.org/drawingml/2006/main" noGrp="1"/>
          </p:cNvSpPr>
          <p:nvPr/>
        </p:nvSpPr>
        <p:spPr>
          <a:xfrm xmlns:a="http://schemas.openxmlformats.org/drawingml/2006/main">
            <a:off x="8039100" y="2133600"/>
            <a:ext cx="2743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A2373"/>
                </a:solidFill>
                <a:latin typeface="Nimbus Sans"/>
                <a:ea typeface="Nimbus Sans"/>
                <a:cs typeface="Nimbus Sans"/>
              </a:defRPr>
            </a:pPr>
            <a:r>
              <a:rPr sz="2025" b="1">
                <a:solidFill>
                  <a:srgbClr val="0A2373"/>
                </a:solidFill>
                <a:latin typeface="Nimbus Sans"/>
                <a:ea typeface="Nimbus Sans"/>
                <a:cs typeface="Nimbus Sans"/>
              </a:rPr>
              <a:t>Terminal leadership</a:t>
            </a:r>
          </a:p>
        </p:txBody>
      </p:sp>
      <p:sp>
        <p:nvSpPr>
          <p:cNvPr id="15" name="">
            <a:extLst xmlns:a="http://schemas.openxmlformats.org/drawingml/2006/main">
              <a:ext uri="{FF2B5EF4-FFF2-40B4-BE49-F238E27FC236}">
                <a16:creationId xmlns:a16="http://schemas.microsoft.com/office/drawing/2014/main" id="{5F031084-0557-4CFD-8D8F-067393A69FF8}"/>
              </a:ext>
            </a:extLst>
          </p:cNvPr>
          <p:cNvSpPr>
            <a:spLocks xmlns:a="http://schemas.openxmlformats.org/drawingml/2006/main" noGrp="1"/>
          </p:cNvSpPr>
          <p:nvPr/>
        </p:nvSpPr>
        <p:spPr>
          <a:xfrm xmlns:a="http://schemas.openxmlformats.org/drawingml/2006/main">
            <a:off x="8039100" y="2876550"/>
            <a:ext cx="27241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Lead emergency and continuity decisions</a:t>
            </a:r>
          </a:p>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Use trusted information and approved alternate processes</a:t>
            </a:r>
          </a:p>
          <a:p xmlns:a="http://schemas.openxmlformats.org/drawingml/2006/main">
            <a:pPr marL="279400" indent="-139700" algn="l">
              <a:lnSpc>
                <a:spcPct val="108000"/>
              </a:lnSpc>
              <a:spcAft>
                <a:spcPts val="800"/>
              </a:spcAft>
              <a:buNone/>
              <a:defRPr sz="1425" b="0">
                <a:solidFill>
                  <a:srgbClr val="101828"/>
                </a:solidFill>
                <a:latin typeface="Nimbus Sans"/>
                <a:ea typeface="Nimbus Sans"/>
                <a:cs typeface="Nimbus Sans"/>
              </a:defRPr>
            </a:pPr>
            <a:r>
              <a:rPr sz="1425" b="0">
                <a:solidFill>
                  <a:srgbClr val="101828"/>
                </a:solidFill>
                <a:latin typeface="Nimbus Sans"/>
                <a:ea typeface="Nimbus Sans"/>
                <a:cs typeface="Nimbus Sans"/>
              </a:rPr>
              <a:t>Coordinate operational communication and recovery</a:t>
            </a:r>
          </a:p>
        </p:txBody>
      </p:sp>
      <p:sp>
        <p:nvSpPr>
          <p:cNvPr id="16" name="">
            <a:extLst xmlns:a="http://schemas.openxmlformats.org/drawingml/2006/main">
              <a:ext uri="{FF2B5EF4-FFF2-40B4-BE49-F238E27FC236}">
                <a16:creationId xmlns:a16="http://schemas.microsoft.com/office/drawing/2014/main" id="{F162C726-2B83-4232-B3C0-6BB078675FA1}"/>
              </a:ext>
            </a:extLst>
          </p:cNvPr>
          <p:cNvSpPr>
            <a:spLocks xmlns:a="http://schemas.openxmlformats.org/drawingml/2006/main" noGrp="1"/>
          </p:cNvSpPr>
          <p:nvPr/>
        </p:nvSpPr>
        <p:spPr>
          <a:xfrm xmlns:a="http://schemas.openxmlformats.org/drawingml/2006/main">
            <a:off x="876300" y="52768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a:solidFill>
                  <a:srgbClr val="C62828"/>
                </a:solidFill>
                <a:latin typeface="Nimbus Sans"/>
                <a:ea typeface="Nimbus Sans"/>
                <a:cs typeface="Nimbus Sans"/>
              </a:defRPr>
            </a:pPr>
            <a:r>
              <a:rPr sz="1575" b="1">
                <a:solidFill>
                  <a:srgbClr val="C62828"/>
                </a:solidFill>
                <a:latin typeface="Nimbus Sans"/>
                <a:ea typeface="Nimbus Sans"/>
                <a:cs typeface="Nimbus Sans"/>
              </a:rPr>
              <a:t>End users should not improvise isolation of critical OT equipment. Qualified IT or OT responders protect safety and preserve evidence.</a:t>
            </a:r>
          </a:p>
        </p:txBody>
      </p:sp>
      <p:sp>
        <p:nvSpPr>
          <p:cNvPr id="17" name="">
            <a:extLst xmlns:a="http://schemas.openxmlformats.org/drawingml/2006/main">
              <a:ext uri="{FF2B5EF4-FFF2-40B4-BE49-F238E27FC236}">
                <a16:creationId xmlns:a16="http://schemas.microsoft.com/office/drawing/2014/main" id="{22628245-8B83-47B6-8FA5-38D0906FA28C}"/>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0075406-EFF1-4346-B840-605874122FCF}"/>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Vopak GIT CIS Guideline, Appendix A</a:t>
            </a:r>
          </a:p>
        </p:txBody>
      </p:sp>
      <p:sp>
        <p:nvSpPr>
          <p:cNvPr id="19" name="">
            <a:extLst xmlns:a="http://schemas.openxmlformats.org/drawingml/2006/main">
              <a:ext uri="{FF2B5EF4-FFF2-40B4-BE49-F238E27FC236}">
                <a16:creationId xmlns:a16="http://schemas.microsoft.com/office/drawing/2014/main" id="{44386B22-03FA-4219-8133-EB50B3F6C040}"/>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08</a:t>
            </a:r>
          </a:p>
        </p:txBody>
      </p:sp>
    </p:spTree>
    <p:extLst>
      <p:ext uri="{BB962C8B-B14F-4D97-AF65-F5344CB8AC3E}">
        <p14:creationId xmlns:p14="http://schemas.microsoft.com/office/powerpoint/2010/main" val="10616692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7d30d5cc4b441a"/>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DB9360-0041-4039-BAEB-3E80791FC8F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2D2290-D674-4F50-BDC8-0B51335B0565}"/>
              </a:ext>
            </a:extLst>
          </p:cNvPr>
          <p:cNvSpPr>
            <a:spLocks xmlns:a="http://schemas.openxmlformats.org/drawingml/2006/main" noGrp="1"/>
          </p:cNvSpPr>
          <p:nvPr/>
        </p:nvSpPr>
        <p:spPr>
          <a:xfrm xmlns:a="http://schemas.openxmlformats.org/drawingml/2006/main">
            <a:off x="685800" y="1066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0A2373"/>
                </a:solidFill>
                <a:latin typeface="Nimbus Sans"/>
                <a:ea typeface="Nimbus Sans"/>
                <a:cs typeface="Nimbus Sans"/>
              </a:defRPr>
            </a:pPr>
            <a:r>
              <a:rPr sz="3450" b="1">
                <a:solidFill>
                  <a:srgbClr val="0A2373"/>
                </a:solidFill>
                <a:latin typeface="Nimbus Sans"/>
                <a:ea typeface="Nimbus Sans"/>
                <a:cs typeface="Nimbus Sans"/>
              </a:rPr>
              <a:t>U.S. Coast Guard reporting context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710704085c94c2a"/>
          <a:stretch xmlns:a="http://schemas.openxmlformats.org/drawingml/2006/main"/>
        </p:blipFill>
        <p:spPr>
          <a:xfrm xmlns:a="http://schemas.openxmlformats.org/drawingml/2006/main">
            <a:off x="685800" y="329648"/>
            <a:ext cx="1714500" cy="5218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974F38A-BF90-4283-97C1-9183234FAC59}"/>
              </a:ext>
            </a:extLst>
          </p:cNvPr>
          <p:cNvSpPr>
            <a:spLocks xmlns:a="http://schemas.openxmlformats.org/drawingml/2006/main" noGrp="1"/>
          </p:cNvSpPr>
          <p:nvPr/>
        </p:nvSpPr>
        <p:spPr>
          <a:xfrm xmlns:a="http://schemas.openxmlformats.org/drawingml/2006/main">
            <a:off x="876300" y="1790700"/>
            <a:ext cx="10191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0A2373"/>
                </a:solidFill>
                <a:latin typeface="Nimbus Sans"/>
                <a:ea typeface="Nimbus Sans"/>
                <a:cs typeface="Nimbus Sans"/>
              </a:defRPr>
            </a:pPr>
            <a:r>
              <a:rPr sz="1950" b="1">
                <a:solidFill>
                  <a:srgbClr val="0A2373"/>
                </a:solidFill>
                <a:latin typeface="Nimbus Sans"/>
                <a:ea typeface="Nimbus Sans"/>
                <a:cs typeface="Nimbus Sans"/>
              </a:rPr>
              <a:t>When an actual or threatened cyber incident involves or endangers a vessel, harbor, port, or waterfront facility, 33 CFR 6.16-1 requires immediate reporting to the FBI, CISA, and the Captain of the Port or their representatives.</a:t>
            </a:r>
          </a:p>
        </p:txBody>
      </p:sp>
      <p:sp>
        <p:nvSpPr>
          <p:cNvPr id="6" name="">
            <a:extLst xmlns:a="http://schemas.openxmlformats.org/drawingml/2006/main">
              <a:ext uri="{FF2B5EF4-FFF2-40B4-BE49-F238E27FC236}">
                <a16:creationId xmlns:a16="http://schemas.microsoft.com/office/drawing/2014/main" id="{EF0BA51C-ACAA-429C-92D7-3F6A66F74EBA}"/>
              </a:ext>
            </a:extLst>
          </p:cNvPr>
          <p:cNvSpPr>
            <a:spLocks xmlns:a="http://schemas.openxmlformats.org/drawingml/2006/main" noGrp="1"/>
          </p:cNvSpPr>
          <p:nvPr/>
        </p:nvSpPr>
        <p:spPr>
          <a:xfrm xmlns:a="http://schemas.openxmlformats.org/drawingml/2006/main">
            <a:off x="876300" y="3257550"/>
            <a:ext cx="76200" cy="1962150"/>
          </a:xfrm>
          <a:prstGeom xmlns:a="http://schemas.openxmlformats.org/drawingml/2006/main" prst="rect">
            <a:avLst/>
          </a:prstGeom>
          <a:solidFill xmlns:a="http://schemas.openxmlformats.org/drawingml/2006/main">
            <a:srgbClr val="00CF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F57A01-2624-4DA1-864D-89CC2E4213C7}"/>
              </a:ext>
            </a:extLst>
          </p:cNvPr>
          <p:cNvSpPr>
            <a:spLocks xmlns:a="http://schemas.openxmlformats.org/drawingml/2006/main" noGrp="1"/>
          </p:cNvSpPr>
          <p:nvPr/>
        </p:nvSpPr>
        <p:spPr>
          <a:xfrm xmlns:a="http://schemas.openxmlformats.org/drawingml/2006/main">
            <a:off x="1200150" y="32575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0A2373"/>
                </a:solidFill>
                <a:latin typeface="Nimbus Sans"/>
                <a:ea typeface="Nimbus Sans"/>
                <a:cs typeface="Nimbus Sans"/>
              </a:defRPr>
            </a:pPr>
            <a:r>
              <a:rPr sz="2100" b="1">
                <a:solidFill>
                  <a:srgbClr val="0A2373"/>
                </a:solidFill>
                <a:latin typeface="Nimbus Sans"/>
                <a:ea typeface="Nimbus Sans"/>
                <a:cs typeface="Nimbus Sans"/>
              </a:rPr>
              <a:t>During a real incident</a:t>
            </a:r>
          </a:p>
        </p:txBody>
      </p:sp>
      <p:sp>
        <p:nvSpPr>
          <p:cNvPr id="8" name="">
            <a:extLst xmlns:a="http://schemas.openxmlformats.org/drawingml/2006/main">
              <a:ext uri="{FF2B5EF4-FFF2-40B4-BE49-F238E27FC236}">
                <a16:creationId xmlns:a16="http://schemas.microsoft.com/office/drawing/2014/main" id="{43F20D7E-988A-4829-9945-B8CDE145CB50}"/>
              </a:ext>
            </a:extLst>
          </p:cNvPr>
          <p:cNvSpPr>
            <a:spLocks xmlns:a="http://schemas.openxmlformats.org/drawingml/2006/main" noGrp="1"/>
          </p:cNvSpPr>
          <p:nvPr/>
        </p:nvSpPr>
        <p:spPr>
          <a:xfrm xmlns:a="http://schemas.openxmlformats.org/drawingml/2006/main">
            <a:off x="1200150" y="3867150"/>
            <a:ext cx="4324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10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The approved facility procedure controls who makes external notifications</a:t>
            </a:r>
          </a:p>
          <a:p xmlns:a="http://schemas.openxmlformats.org/drawingml/2006/main">
            <a:pPr marL="279400" indent="-139700" algn="l">
              <a:lnSpc>
                <a:spcPct val="108000"/>
              </a:lnSpc>
              <a:spcAft>
                <a:spcPts val="10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Internal escalation and incident records continue in parallel</a:t>
            </a:r>
          </a:p>
          <a:p xmlns:a="http://schemas.openxmlformats.org/drawingml/2006/main">
            <a:pPr marL="279400" indent="-139700" algn="l">
              <a:lnSpc>
                <a:spcPct val="108000"/>
              </a:lnSpc>
              <a:spcAft>
                <a:spcPts val="10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Uncertainty about the final impact does not justify delaying a required immediate report</a:t>
            </a:r>
          </a:p>
        </p:txBody>
      </p:sp>
      <p:sp>
        <p:nvSpPr>
          <p:cNvPr id="9" name="">
            <a:extLst xmlns:a="http://schemas.openxmlformats.org/drawingml/2006/main">
              <a:ext uri="{FF2B5EF4-FFF2-40B4-BE49-F238E27FC236}">
                <a16:creationId xmlns:a16="http://schemas.microsoft.com/office/drawing/2014/main" id="{D82055AE-8F26-4BAC-A779-8155A31C5AD0}"/>
              </a:ext>
            </a:extLst>
          </p:cNvPr>
          <p:cNvSpPr>
            <a:spLocks xmlns:a="http://schemas.openxmlformats.org/drawingml/2006/main" noGrp="1"/>
          </p:cNvSpPr>
          <p:nvPr/>
        </p:nvSpPr>
        <p:spPr>
          <a:xfrm xmlns:a="http://schemas.openxmlformats.org/drawingml/2006/main">
            <a:off x="6286500" y="3257550"/>
            <a:ext cx="76200" cy="1962150"/>
          </a:xfrm>
          <a:prstGeom xmlns:a="http://schemas.openxmlformats.org/drawingml/2006/main" prst="rect">
            <a:avLst/>
          </a:prstGeom>
          <a:solidFill xmlns:a="http://schemas.openxmlformats.org/drawingml/2006/main">
            <a:srgbClr val="FC70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4D1025-B917-40DC-9BEC-57608C589231}"/>
              </a:ext>
            </a:extLst>
          </p:cNvPr>
          <p:cNvSpPr>
            <a:spLocks xmlns:a="http://schemas.openxmlformats.org/drawingml/2006/main" noGrp="1"/>
          </p:cNvSpPr>
          <p:nvPr/>
        </p:nvSpPr>
        <p:spPr>
          <a:xfrm xmlns:a="http://schemas.openxmlformats.org/drawingml/2006/main">
            <a:off x="6610350" y="32575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0A2373"/>
                </a:solidFill>
                <a:latin typeface="Nimbus Sans"/>
                <a:ea typeface="Nimbus Sans"/>
                <a:cs typeface="Nimbus Sans"/>
              </a:defRPr>
            </a:pPr>
            <a:r>
              <a:rPr sz="2100" b="1">
                <a:solidFill>
                  <a:srgbClr val="0A2373"/>
                </a:solidFill>
                <a:latin typeface="Nimbus Sans"/>
                <a:ea typeface="Nimbus Sans"/>
                <a:cs typeface="Nimbus Sans"/>
              </a:rPr>
              <a:t>During the tabletop</a:t>
            </a:r>
          </a:p>
        </p:txBody>
      </p:sp>
      <p:sp>
        <p:nvSpPr>
          <p:cNvPr id="11" name="">
            <a:extLst xmlns:a="http://schemas.openxmlformats.org/drawingml/2006/main">
              <a:ext uri="{FF2B5EF4-FFF2-40B4-BE49-F238E27FC236}">
                <a16:creationId xmlns:a16="http://schemas.microsoft.com/office/drawing/2014/main" id="{27EA23BF-FFD4-4718-96C9-3E773962B653}"/>
              </a:ext>
            </a:extLst>
          </p:cNvPr>
          <p:cNvSpPr>
            <a:spLocks xmlns:a="http://schemas.openxmlformats.org/drawingml/2006/main" noGrp="1"/>
          </p:cNvSpPr>
          <p:nvPr/>
        </p:nvSpPr>
        <p:spPr>
          <a:xfrm xmlns:a="http://schemas.openxmlformats.org/drawingml/2006/main">
            <a:off x="6610350" y="3867150"/>
            <a:ext cx="4324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10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Identify who has authority and what information they need</a:t>
            </a:r>
          </a:p>
          <a:p xmlns:a="http://schemas.openxmlformats.org/drawingml/2006/main">
            <a:pPr marL="279400" indent="-139700" algn="l">
              <a:lnSpc>
                <a:spcPct val="108000"/>
              </a:lnSpc>
              <a:spcAft>
                <a:spcPts val="10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Describe the notification path without contacting any authority</a:t>
            </a:r>
          </a:p>
          <a:p xmlns:a="http://schemas.openxmlformats.org/drawingml/2006/main">
            <a:pPr marL="279400" indent="-139700" algn="l">
              <a:lnSpc>
                <a:spcPct val="108000"/>
              </a:lnSpc>
              <a:spcAft>
                <a:spcPts val="1000"/>
              </a:spcAft>
              <a:buNone/>
              <a:defRPr sz="1650" b="0">
                <a:solidFill>
                  <a:srgbClr val="101828"/>
                </a:solidFill>
                <a:latin typeface="Nimbus Sans"/>
                <a:ea typeface="Nimbus Sans"/>
                <a:cs typeface="Nimbus Sans"/>
              </a:defRPr>
            </a:pPr>
            <a:r>
              <a:rPr sz="1650" b="0">
                <a:solidFill>
                  <a:srgbClr val="101828"/>
                </a:solidFill>
                <a:latin typeface="Nimbus Sans"/>
                <a:ea typeface="Nimbus Sans"/>
                <a:cs typeface="Nimbus Sans"/>
              </a:rPr>
              <a:t>Record the decision, assumptions, and timing for the after action review</a:t>
            </a:r>
          </a:p>
        </p:txBody>
      </p:sp>
      <p:sp>
        <p:nvSpPr>
          <p:cNvPr id="12" name="">
            <a:extLst xmlns:a="http://schemas.openxmlformats.org/drawingml/2006/main">
              <a:ext uri="{FF2B5EF4-FFF2-40B4-BE49-F238E27FC236}">
                <a16:creationId xmlns:a16="http://schemas.microsoft.com/office/drawing/2014/main" id="{60F17635-2A04-4050-A3F9-1C448E3B8717}"/>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D7DD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03C55A-3F12-4C13-9F60-EA53A1FDC8B0}"/>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46555A"/>
                </a:solidFill>
                <a:latin typeface="Nimbus Sans"/>
                <a:ea typeface="Nimbus Sans"/>
                <a:cs typeface="Nimbus Sans"/>
              </a:defRPr>
            </a:pPr>
            <a:r>
              <a:rPr sz="1050" b="0">
                <a:solidFill>
                  <a:srgbClr val="46555A"/>
                </a:solidFill>
                <a:latin typeface="Nimbus Sans"/>
                <a:ea typeface="Nimbus Sans"/>
                <a:cs typeface="Nimbus Sans"/>
              </a:rPr>
              <a:t>33 CFR 6.16-1 and 33 CFR 101.635</a:t>
            </a:r>
          </a:p>
        </p:txBody>
      </p:sp>
      <p:sp>
        <p:nvSpPr>
          <p:cNvPr id="14" name="">
            <a:extLst xmlns:a="http://schemas.openxmlformats.org/drawingml/2006/main">
              <a:ext uri="{FF2B5EF4-FFF2-40B4-BE49-F238E27FC236}">
                <a16:creationId xmlns:a16="http://schemas.microsoft.com/office/drawing/2014/main" id="{ADAE2F0A-E7DC-4FC4-91B8-3D97C8F1F51F}"/>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A2373"/>
                </a:solidFill>
                <a:latin typeface="Nimbus Sans"/>
                <a:ea typeface="Nimbus Sans"/>
                <a:cs typeface="Nimbus Sans"/>
              </a:defRPr>
            </a:pPr>
            <a:r>
              <a:rPr sz="1125" b="1">
                <a:solidFill>
                  <a:srgbClr val="0A2373"/>
                </a:solidFill>
                <a:latin typeface="Nimbus Sans"/>
                <a:ea typeface="Nimbus Sans"/>
                <a:cs typeface="Nimbus Sans"/>
              </a:rPr>
              <a:t>09</a:t>
            </a:r>
          </a:p>
        </p:txBody>
      </p:sp>
      <p:sp>
        <p:nvSpPr>
          <p:cNvPr id="15" name="">
            <a:extLst xmlns:a="http://schemas.openxmlformats.org/drawingml/2006/main">
              <a:ext uri="{FF2B5EF4-FFF2-40B4-BE49-F238E27FC236}">
                <a16:creationId xmlns:a16="http://schemas.microsoft.com/office/drawing/2014/main" id="{3115A98E-26B2-4B6A-9814-2DA9DC35D71E}"/>
              </a:ext>
            </a:extLst>
          </p:cNvPr>
          <p:cNvSpPr>
            <a:spLocks xmlns:a="http://schemas.openxmlformats.org/drawingml/2006/main" noGrp="1"/>
          </p:cNvSpPr>
          <p:nvPr/>
        </p:nvSpPr>
        <p:spPr>
          <a:xfrm xmlns:a="http://schemas.openxmlformats.org/drawingml/2006/main">
            <a:off x="8763000" y="58674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00" b="1">
                <a:solidFill>
                  <a:srgbClr val="283CE1"/>
                </a:solidFill>
                <a:latin typeface="Nimbus Sans"/>
                <a:ea typeface="Nimbus Sans"/>
                <a:cs typeface="Nimbus Sans"/>
              </a:defRPr>
            </a:pPr>
            <a:r>
              <a:rPr sz="1200" b="1">
                <a:solidFill>
                  <a:srgbClr val="283CE1"/>
                </a:solidFill>
                <a:latin typeface="Nimbus Sans"/>
                <a:ea typeface="Nimbus Sans"/>
                <a:cs typeface="Nimbus Sans"/>
                <a:hlinkClick xmlns:r="http://schemas.openxmlformats.org/officeDocument/2006/relationships" r:id="Rc69aec7ce9cf4b5b"/>
              </a:rPr>
              <a:t>Open 33 CFR 6.16-1</a:t>
            </a:r>
          </a:p>
        </p:txBody>
      </p:sp>
    </p:spTree>
    <p:extLst>
      <p:ext uri="{BB962C8B-B14F-4D97-AF65-F5344CB8AC3E}">
        <p14:creationId xmlns:p14="http://schemas.microsoft.com/office/powerpoint/2010/main" val="362580367"/>
      </p:ext>
    </p:extLst>
  </p:cSld>
</p:sld>
</file>

<file path=ppt/slides/slide10.xml><?xml version="1.0" encoding="utf-8"?>
<p:sld xmlns:p="http://schemas.openxmlformats.org/presentationml/2006/main">
  <p:cSld>
    <p:bg>
      <p:bgPr>
        <a:solidFill xmlns:a="http://schemas.openxmlformats.org/drawingml/2006/main">
          <a:srgbClr val="0A2373"/>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d67f3cdf05d421f"/>
          <a:stretch xmlns:a="http://schemas.openxmlformats.org/drawingml/2006/main"/>
        </p:blipFill>
        <p:spPr>
          <a:xfrm xmlns:a="http://schemas.openxmlformats.org/drawingml/2006/main">
            <a:off x="704850" y="416719"/>
            <a:ext cx="2000250" cy="61436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878C81-2C80-4C6D-BB38-17B2E6D2BAD4}"/>
              </a:ext>
            </a:extLst>
          </p:cNvPr>
          <p:cNvSpPr>
            <a:spLocks xmlns:a="http://schemas.openxmlformats.org/drawingml/2006/main" noGrp="1"/>
          </p:cNvSpPr>
          <p:nvPr/>
        </p:nvSpPr>
        <p:spPr>
          <a:xfrm xmlns:a="http://schemas.openxmlformats.org/drawingml/2006/main">
            <a:off x="685800" y="13906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Exercise readiness</a:t>
            </a:r>
          </a:p>
        </p:txBody>
      </p:sp>
      <p:sp>
        <p:nvSpPr>
          <p:cNvPr id="3" name="">
            <a:extLst xmlns:a="http://schemas.openxmlformats.org/drawingml/2006/main">
              <a:ext uri="{FF2B5EF4-FFF2-40B4-BE49-F238E27FC236}">
                <a16:creationId xmlns:a16="http://schemas.microsoft.com/office/drawing/2014/main" id="{41EFF112-0ADF-4221-9032-98AF97784EE2}"/>
              </a:ext>
            </a:extLst>
          </p:cNvPr>
          <p:cNvSpPr>
            <a:spLocks xmlns:a="http://schemas.openxmlformats.org/drawingml/2006/main" noGrp="1"/>
          </p:cNvSpPr>
          <p:nvPr/>
        </p:nvSpPr>
        <p:spPr>
          <a:xfrm xmlns:a="http://schemas.openxmlformats.org/drawingml/2006/main">
            <a:off x="685800" y="21145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250" b="1">
                <a:solidFill>
                  <a:srgbClr val="00CFE1"/>
                </a:solidFill>
                <a:latin typeface="Nimbus Sans"/>
                <a:ea typeface="Nimbus Sans"/>
                <a:cs typeface="Nimbus Sans"/>
              </a:defRPr>
            </a:pPr>
            <a:r>
              <a:rPr sz="2250" b="1">
                <a:solidFill>
                  <a:srgbClr val="00CFE1"/>
                </a:solidFill>
                <a:latin typeface="Nimbus Sans"/>
                <a:ea typeface="Nimbus Sans"/>
                <a:cs typeface="Nimbus Sans"/>
              </a:rPr>
              <a:t>Simulation rules</a:t>
            </a:r>
          </a:p>
        </p:txBody>
      </p:sp>
      <p:sp>
        <p:nvSpPr>
          <p:cNvPr id="4" name="">
            <a:extLst xmlns:a="http://schemas.openxmlformats.org/drawingml/2006/main">
              <a:ext uri="{FF2B5EF4-FFF2-40B4-BE49-F238E27FC236}">
                <a16:creationId xmlns:a16="http://schemas.microsoft.com/office/drawing/2014/main" id="{99E14DCB-DDD8-4C88-B001-F8D717858CBB}"/>
              </a:ext>
            </a:extLst>
          </p:cNvPr>
          <p:cNvSpPr>
            <a:spLocks xmlns:a="http://schemas.openxmlformats.org/drawingml/2006/main" noGrp="1"/>
          </p:cNvSpPr>
          <p:nvPr/>
        </p:nvSpPr>
        <p:spPr>
          <a:xfrm xmlns:a="http://schemas.openxmlformats.org/drawingml/2006/main">
            <a:off x="742950" y="2781300"/>
            <a:ext cx="40005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79400" indent="-139700" algn="l">
              <a:lnSpc>
                <a:spcPct val="108000"/>
              </a:lnSpc>
              <a:spcAft>
                <a:spcPts val="1000"/>
              </a:spcAft>
              <a:buNone/>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Do not create real incident tickets</a:t>
            </a:r>
          </a:p>
          <a:p xmlns:a="http://schemas.openxmlformats.org/drawingml/2006/main">
            <a:pPr marL="279400" indent="-139700" algn="l">
              <a:lnSpc>
                <a:spcPct val="108000"/>
              </a:lnSpc>
              <a:spcAft>
                <a:spcPts val="1000"/>
              </a:spcAft>
              <a:buNone/>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Do not contact external authorities</a:t>
            </a:r>
          </a:p>
          <a:p xmlns:a="http://schemas.openxmlformats.org/drawingml/2006/main">
            <a:pPr marL="279400" indent="-139700" algn="l">
              <a:lnSpc>
                <a:spcPct val="108000"/>
              </a:lnSpc>
              <a:spcAft>
                <a:spcPts val="1000"/>
              </a:spcAft>
              <a:buNone/>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Do not disconnect systems or interrupt operations</a:t>
            </a:r>
          </a:p>
          <a:p xmlns:a="http://schemas.openxmlformats.org/drawingml/2006/main">
            <a:pPr marL="279400" indent="-139700" algn="l">
              <a:lnSpc>
                <a:spcPct val="108000"/>
              </a:lnSpc>
              <a:spcAft>
                <a:spcPts val="1000"/>
              </a:spcAft>
              <a:buNone/>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Do not enter restricted areas for the field mission</a:t>
            </a:r>
          </a:p>
        </p:txBody>
      </p:sp>
      <p:sp>
        <p:nvSpPr>
          <p:cNvPr id="5" name="">
            <a:extLst xmlns:a="http://schemas.openxmlformats.org/drawingml/2006/main">
              <a:ext uri="{FF2B5EF4-FFF2-40B4-BE49-F238E27FC236}">
                <a16:creationId xmlns:a16="http://schemas.microsoft.com/office/drawing/2014/main" id="{FCCFAD80-5AEA-44A3-B4EA-B576DBF1C1FF}"/>
              </a:ext>
            </a:extLst>
          </p:cNvPr>
          <p:cNvSpPr>
            <a:spLocks xmlns:a="http://schemas.openxmlformats.org/drawingml/2006/main" noGrp="1"/>
          </p:cNvSpPr>
          <p:nvPr/>
        </p:nvSpPr>
        <p:spPr>
          <a:xfrm xmlns:a="http://schemas.openxmlformats.org/drawingml/2006/main">
            <a:off x="5581650" y="21145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250" b="1">
                <a:solidFill>
                  <a:srgbClr val="00CFE1"/>
                </a:solidFill>
                <a:latin typeface="Nimbus Sans"/>
                <a:ea typeface="Nimbus Sans"/>
                <a:cs typeface="Nimbus Sans"/>
              </a:defRPr>
            </a:pPr>
            <a:r>
              <a:rPr sz="2250" b="1">
                <a:solidFill>
                  <a:srgbClr val="00CFE1"/>
                </a:solidFill>
                <a:latin typeface="Nimbus Sans"/>
                <a:ea typeface="Nimbus Sans"/>
                <a:cs typeface="Nimbus Sans"/>
              </a:rPr>
              <a:t>Core references</a:t>
            </a:r>
          </a:p>
        </p:txBody>
      </p:sp>
      <p:sp>
        <p:nvSpPr>
          <p:cNvPr id="6" name="">
            <a:extLst xmlns:a="http://schemas.openxmlformats.org/drawingml/2006/main">
              <a:ext uri="{FF2B5EF4-FFF2-40B4-BE49-F238E27FC236}">
                <a16:creationId xmlns:a16="http://schemas.microsoft.com/office/drawing/2014/main" id="{623AE000-8C48-45B0-A599-A934BB7672D8}"/>
              </a:ext>
            </a:extLst>
          </p:cNvPr>
          <p:cNvSpPr>
            <a:spLocks xmlns:a="http://schemas.openxmlformats.org/drawingml/2006/main" noGrp="1"/>
          </p:cNvSpPr>
          <p:nvPr/>
        </p:nvSpPr>
        <p:spPr>
          <a:xfrm xmlns:a="http://schemas.openxmlformats.org/drawingml/2006/main">
            <a:off x="5638800" y="28384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Nimbus Sans"/>
                <a:ea typeface="Nimbus Sans"/>
                <a:cs typeface="Nimbus Sans"/>
              </a:defRPr>
            </a:pPr>
            <a:r>
              <a:rPr sz="1650" b="1">
                <a:solidFill>
                  <a:srgbClr val="FFFFFF"/>
                </a:solidFill>
                <a:latin typeface="Nimbus Sans"/>
                <a:ea typeface="Nimbus Sans"/>
                <a:cs typeface="Nimbus Sans"/>
                <a:hlinkClick xmlns:r="http://schemas.openxmlformats.org/officeDocument/2006/relationships" r:id="R4d7edb6f3e174ddf"/>
              </a:rPr>
              <a:t>33 CFR 6.16-1</a:t>
            </a:r>
          </a:p>
        </p:txBody>
      </p:sp>
      <p:sp>
        <p:nvSpPr>
          <p:cNvPr id="7" name="">
            <a:extLst xmlns:a="http://schemas.openxmlformats.org/drawingml/2006/main">
              <a:ext uri="{FF2B5EF4-FFF2-40B4-BE49-F238E27FC236}">
                <a16:creationId xmlns:a16="http://schemas.microsoft.com/office/drawing/2014/main" id="{A79A3E62-AAFC-4204-AD34-FF2555B54961}"/>
              </a:ext>
            </a:extLst>
          </p:cNvPr>
          <p:cNvSpPr>
            <a:spLocks xmlns:a="http://schemas.openxmlformats.org/drawingml/2006/main" noGrp="1"/>
          </p:cNvSpPr>
          <p:nvPr/>
        </p:nvSpPr>
        <p:spPr>
          <a:xfrm xmlns:a="http://schemas.openxmlformats.org/drawingml/2006/main">
            <a:off x="5638800" y="33528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Nimbus Sans"/>
                <a:ea typeface="Nimbus Sans"/>
                <a:cs typeface="Nimbus Sans"/>
              </a:defRPr>
            </a:pPr>
            <a:r>
              <a:rPr sz="1650" b="1">
                <a:solidFill>
                  <a:srgbClr val="FFFFFF"/>
                </a:solidFill>
                <a:latin typeface="Nimbus Sans"/>
                <a:ea typeface="Nimbus Sans"/>
                <a:cs typeface="Nimbus Sans"/>
                <a:hlinkClick xmlns:r="http://schemas.openxmlformats.org/officeDocument/2006/relationships" r:id="R6dbaf6b340684d21"/>
              </a:rPr>
              <a:t>33 CFR 101.635</a:t>
            </a:r>
          </a:p>
        </p:txBody>
      </p:sp>
      <p:sp>
        <p:nvSpPr>
          <p:cNvPr id="8" name="">
            <a:extLst xmlns:a="http://schemas.openxmlformats.org/drawingml/2006/main">
              <a:ext uri="{FF2B5EF4-FFF2-40B4-BE49-F238E27FC236}">
                <a16:creationId xmlns:a16="http://schemas.microsoft.com/office/drawing/2014/main" id="{82A40261-2F25-4041-BD80-85FC63B9A0B1}"/>
              </a:ext>
            </a:extLst>
          </p:cNvPr>
          <p:cNvSpPr>
            <a:spLocks xmlns:a="http://schemas.openxmlformats.org/drawingml/2006/main" noGrp="1"/>
          </p:cNvSpPr>
          <p:nvPr/>
        </p:nvSpPr>
        <p:spPr>
          <a:xfrm xmlns:a="http://schemas.openxmlformats.org/drawingml/2006/main">
            <a:off x="5638800" y="38671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Nimbus Sans"/>
                <a:ea typeface="Nimbus Sans"/>
                <a:cs typeface="Nimbus Sans"/>
              </a:defRPr>
            </a:pPr>
            <a:r>
              <a:rPr sz="1650" b="1">
                <a:solidFill>
                  <a:srgbClr val="FFFFFF"/>
                </a:solidFill>
                <a:latin typeface="Nimbus Sans"/>
                <a:ea typeface="Nimbus Sans"/>
                <a:cs typeface="Nimbus Sans"/>
                <a:hlinkClick xmlns:r="http://schemas.openxmlformats.org/officeDocument/2006/relationships" r:id="Ree5e75108dea4da7"/>
              </a:rPr>
              <a:t>33 CFR 101.650</a:t>
            </a:r>
          </a:p>
        </p:txBody>
      </p:sp>
      <p:sp>
        <p:nvSpPr>
          <p:cNvPr id="9" name="">
            <a:extLst xmlns:a="http://schemas.openxmlformats.org/drawingml/2006/main">
              <a:ext uri="{FF2B5EF4-FFF2-40B4-BE49-F238E27FC236}">
                <a16:creationId xmlns:a16="http://schemas.microsoft.com/office/drawing/2014/main" id="{63E5DC5C-7381-4046-A2CB-7884D0B440A1}"/>
              </a:ext>
            </a:extLst>
          </p:cNvPr>
          <p:cNvSpPr>
            <a:spLocks xmlns:a="http://schemas.openxmlformats.org/drawingml/2006/main" noGrp="1"/>
          </p:cNvSpPr>
          <p:nvPr/>
        </p:nvSpPr>
        <p:spPr>
          <a:xfrm xmlns:a="http://schemas.openxmlformats.org/drawingml/2006/main">
            <a:off x="5638800" y="43815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Nimbus Sans"/>
                <a:ea typeface="Nimbus Sans"/>
                <a:cs typeface="Nimbus Sans"/>
              </a:defRPr>
            </a:pPr>
            <a:r>
              <a:rPr sz="1650" b="1">
                <a:solidFill>
                  <a:srgbClr val="FFFFFF"/>
                </a:solidFill>
                <a:latin typeface="Nimbus Sans"/>
                <a:ea typeface="Nimbus Sans"/>
                <a:cs typeface="Nimbus Sans"/>
                <a:hlinkClick xmlns:r="http://schemas.openxmlformats.org/officeDocument/2006/relationships" r:id="R20da2557c81f4cb5"/>
              </a:rPr>
              <a:t>USCG final rule</a:t>
            </a:r>
          </a:p>
        </p:txBody>
      </p:sp>
      <p:sp>
        <p:nvSpPr>
          <p:cNvPr id="10" name="">
            <a:extLst xmlns:a="http://schemas.openxmlformats.org/drawingml/2006/main">
              <a:ext uri="{FF2B5EF4-FFF2-40B4-BE49-F238E27FC236}">
                <a16:creationId xmlns:a16="http://schemas.microsoft.com/office/drawing/2014/main" id="{6DE12F56-35EE-4435-ABE6-5CC278B414EC}"/>
              </a:ext>
            </a:extLst>
          </p:cNvPr>
          <p:cNvSpPr>
            <a:spLocks xmlns:a="http://schemas.openxmlformats.org/drawingml/2006/main" noGrp="1"/>
          </p:cNvSpPr>
          <p:nvPr/>
        </p:nvSpPr>
        <p:spPr>
          <a:xfrm xmlns:a="http://schemas.openxmlformats.org/drawingml/2006/main">
            <a:off x="8915400" y="21145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00CFE1"/>
                </a:solidFill>
                <a:latin typeface="Nimbus Sans"/>
                <a:ea typeface="Nimbus Sans"/>
                <a:cs typeface="Nimbus Sans"/>
              </a:defRPr>
            </a:pPr>
            <a:r>
              <a:rPr sz="2100" b="1">
                <a:solidFill>
                  <a:srgbClr val="00CFE1"/>
                </a:solidFill>
                <a:latin typeface="Nimbus Sans"/>
                <a:ea typeface="Nimbus Sans"/>
                <a:cs typeface="Nimbus Sans"/>
              </a:rPr>
              <a:t>Vopak internal sources</a:t>
            </a:r>
          </a:p>
        </p:txBody>
      </p:sp>
      <p:sp>
        <p:nvSpPr>
          <p:cNvPr id="11" name="">
            <a:extLst xmlns:a="http://schemas.openxmlformats.org/drawingml/2006/main">
              <a:ext uri="{FF2B5EF4-FFF2-40B4-BE49-F238E27FC236}">
                <a16:creationId xmlns:a16="http://schemas.microsoft.com/office/drawing/2014/main" id="{92B0652B-5D97-4DAF-84EC-48BC93226F3F}"/>
              </a:ext>
            </a:extLst>
          </p:cNvPr>
          <p:cNvSpPr>
            <a:spLocks xmlns:a="http://schemas.openxmlformats.org/drawingml/2006/main" noGrp="1"/>
          </p:cNvSpPr>
          <p:nvPr/>
        </p:nvSpPr>
        <p:spPr>
          <a:xfrm xmlns:a="http://schemas.openxmlformats.org/drawingml/2006/main">
            <a:off x="8915400" y="2838450"/>
            <a:ext cx="25717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GIT CIS Guideline</a:t>
            </a:r>
          </a:p>
          <a:p xmlns:a="http://schemas.openxmlformats.org/drawingml/2006/main">
            <a:pPr algn="l">
              <a:lnSpc>
                <a:spcPct val="108000"/>
              </a:lnSpc>
              <a:buNone/>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Incident Response and Business Continuity</a:t>
            </a:r>
          </a:p>
          <a:p xmlns:a="http://schemas.openxmlformats.org/drawingml/2006/main">
            <a:r>
              <a:t/>
            </a:r>
          </a:p>
          <a:p xmlns:a="http://schemas.openxmlformats.org/drawingml/2006/main">
            <a:pPr algn="l">
              <a:lnSpc>
                <a:spcPct val="108000"/>
              </a:lnSpc>
              <a:buNone/>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Operational Technology Security Policy v1.2</a:t>
            </a:r>
          </a:p>
          <a:p xmlns:a="http://schemas.openxmlformats.org/drawingml/2006/main">
            <a:r>
              <a:t/>
            </a:r>
          </a:p>
          <a:p xmlns:a="http://schemas.openxmlformats.org/drawingml/2006/main">
            <a:pPr algn="l">
              <a:lnSpc>
                <a:spcPct val="108000"/>
              </a:lnSpc>
              <a:buNone/>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Incident Classification, Reporting and Investigation Standard v8</a:t>
            </a:r>
          </a:p>
        </p:txBody>
      </p:sp>
      <p:sp>
        <p:nvSpPr>
          <p:cNvPr id="12" name="">
            <a:extLst xmlns:a="http://schemas.openxmlformats.org/drawingml/2006/main">
              <a:ext uri="{FF2B5EF4-FFF2-40B4-BE49-F238E27FC236}">
                <a16:creationId xmlns:a16="http://schemas.microsoft.com/office/drawing/2014/main" id="{ACE16671-00D2-4532-B058-2DC728460BEC}"/>
              </a:ext>
            </a:extLst>
          </p:cNvPr>
          <p:cNvSpPr>
            <a:spLocks xmlns:a="http://schemas.openxmlformats.org/drawingml/2006/main" noGrp="1"/>
          </p:cNvSpPr>
          <p:nvPr/>
        </p:nvSpPr>
        <p:spPr>
          <a:xfrm xmlns:a="http://schemas.openxmlformats.org/drawingml/2006/main">
            <a:off x="685800" y="5600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a:solidFill>
                  <a:srgbClr val="FFFFFF"/>
                </a:solidFill>
                <a:latin typeface="Nimbus Sans"/>
                <a:ea typeface="Nimbus Sans"/>
                <a:cs typeface="Nimbus Sans"/>
              </a:defRPr>
            </a:pPr>
            <a:r>
              <a:rPr sz="1650" b="1">
                <a:solidFill>
                  <a:srgbClr val="FFFFFF"/>
                </a:solidFill>
                <a:latin typeface="Nimbus Sans"/>
                <a:ea typeface="Nimbus Sans"/>
                <a:cs typeface="Nimbus Sans"/>
              </a:rPr>
              <a:t>The current approved facility plans and controlled Vopak documents remain authoritative.</a:t>
            </a:r>
          </a:p>
        </p:txBody>
      </p:sp>
      <p:sp>
        <p:nvSpPr>
          <p:cNvPr id="13" name="">
            <a:extLst xmlns:a="http://schemas.openxmlformats.org/drawingml/2006/main">
              <a:ext uri="{FF2B5EF4-FFF2-40B4-BE49-F238E27FC236}">
                <a16:creationId xmlns:a16="http://schemas.microsoft.com/office/drawing/2014/main" id="{4B975933-C86E-42FA-AF62-88480BD600A6}"/>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4E65A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42404A7-2C70-47CA-AC94-7AB49AD7491B}"/>
              </a:ext>
            </a:extLst>
          </p:cNvPr>
          <p:cNvSpPr>
            <a:spLocks xmlns:a="http://schemas.openxmlformats.org/drawingml/2006/main" noGrp="1"/>
          </p:cNvSpPr>
          <p:nvPr/>
        </p:nvSpPr>
        <p:spPr>
          <a:xfrm xmlns:a="http://schemas.openxmlformats.org/drawingml/2006/main">
            <a:off x="685800" y="6419850"/>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a:solidFill>
                  <a:srgbClr val="D7E0FF"/>
                </a:solidFill>
                <a:latin typeface="Nimbus Sans"/>
                <a:ea typeface="Nimbus Sans"/>
                <a:cs typeface="Nimbus Sans"/>
              </a:defRPr>
            </a:pPr>
            <a:r>
              <a:rPr sz="1050" b="0">
                <a:solidFill>
                  <a:srgbClr val="D7E0FF"/>
                </a:solidFill>
                <a:latin typeface="Nimbus Sans"/>
                <a:ea typeface="Nimbus Sans"/>
                <a:cs typeface="Nimbus Sans"/>
              </a:rPr>
              <a:t>Internal use</a:t>
            </a:r>
          </a:p>
        </p:txBody>
      </p:sp>
      <p:sp>
        <p:nvSpPr>
          <p:cNvPr id="15" name="">
            <a:extLst xmlns:a="http://schemas.openxmlformats.org/drawingml/2006/main">
              <a:ext uri="{FF2B5EF4-FFF2-40B4-BE49-F238E27FC236}">
                <a16:creationId xmlns:a16="http://schemas.microsoft.com/office/drawing/2014/main" id="{33FF098A-0F39-4F73-8D50-46991DA3F56A}"/>
              </a:ext>
            </a:extLst>
          </p:cNvPr>
          <p:cNvSpPr>
            <a:spLocks xmlns:a="http://schemas.openxmlformats.org/drawingml/2006/main" noGrp="1"/>
          </p:cNvSpPr>
          <p:nvPr/>
        </p:nvSpPr>
        <p:spPr>
          <a:xfrm xmlns:a="http://schemas.openxmlformats.org/drawingml/2006/main">
            <a:off x="10572750" y="6381750"/>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125" b="1">
                <a:solidFill>
                  <a:srgbClr val="00CFE1"/>
                </a:solidFill>
                <a:latin typeface="Nimbus Sans"/>
                <a:ea typeface="Nimbus Sans"/>
                <a:cs typeface="Nimbus Sans"/>
              </a:defRPr>
            </a:pPr>
            <a:r>
              <a:rPr sz="1125" b="1">
                <a:solidFill>
                  <a:srgbClr val="00CFE1"/>
                </a:solidFill>
                <a:latin typeface="Nimbus Sans"/>
                <a:ea typeface="Nimbus Sans"/>
                <a:cs typeface="Nimbus Sans"/>
              </a:rPr>
              <a:t>10</a:t>
            </a:r>
          </a:p>
        </p:txBody>
      </p:sp>
    </p:spTree>
    <p:extLst>
      <p:ext uri="{BB962C8B-B14F-4D97-AF65-F5344CB8AC3E}">
        <p14:creationId xmlns:p14="http://schemas.microsoft.com/office/powerpoint/2010/main" val="1822779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2026-09-19T06:24:46.1140000Z</dcterms:created>
  <dcterms:modified xsi:type="dcterms:W3CDTF">2026-09-19T06:24:46.1140000Z</dcterms:modified>
</coreProperties>
</file>